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Plus Jakarta Sans ExtraBold"/>
      <p:bold r:id="rId17"/>
      <p:boldItalic r:id="rId18"/>
    </p:embeddedFont>
    <p:embeddedFont>
      <p:font typeface="Plus Jakarta Sans"/>
      <p:regular r:id="rId19"/>
      <p:bold r:id="rId20"/>
      <p:italic r:id="rId21"/>
      <p:boldItalic r:id="rId22"/>
    </p:embeddedFont>
    <p:embeddedFont>
      <p:font typeface="Plus Jakarta Sans SemiBold"/>
      <p:regular r:id="rId23"/>
      <p:bold r:id="rId24"/>
      <p:italic r:id="rId25"/>
      <p:boldItalic r:id="rId26"/>
    </p:embeddedFont>
    <p:embeddedFont>
      <p:font typeface="Plus Jakarta Sans Medium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F3457EF-6F56-4154-B40F-9AC9C2D7C286}">
  <a:tblStyle styleId="{EF3457EF-6F56-4154-B40F-9AC9C2D7C28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bold.fntdata"/><Relationship Id="rId22" Type="http://schemas.openxmlformats.org/officeDocument/2006/relationships/font" Target="fonts/PlusJakartaSans-boldItalic.fntdata"/><Relationship Id="rId21" Type="http://schemas.openxmlformats.org/officeDocument/2006/relationships/font" Target="fonts/PlusJakartaSans-italic.fntdata"/><Relationship Id="rId24" Type="http://schemas.openxmlformats.org/officeDocument/2006/relationships/font" Target="fonts/PlusJakartaSansSemiBold-bold.fntdata"/><Relationship Id="rId23" Type="http://schemas.openxmlformats.org/officeDocument/2006/relationships/font" Target="fonts/PlusJakartaSans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usJakartaSansSemiBold-boldItalic.fntdata"/><Relationship Id="rId25" Type="http://schemas.openxmlformats.org/officeDocument/2006/relationships/font" Target="fonts/PlusJakartaSansSemiBold-italic.fntdata"/><Relationship Id="rId28" Type="http://schemas.openxmlformats.org/officeDocument/2006/relationships/font" Target="fonts/PlusJakartaSansMedium-bold.fntdata"/><Relationship Id="rId27" Type="http://schemas.openxmlformats.org/officeDocument/2006/relationships/font" Target="fonts/PlusJakartaSansMedium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lusJakartaSansMedium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PlusJakartaSansMedium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lusJakartaSansExtraBold-bold.fntdata"/><Relationship Id="rId16" Type="http://schemas.openxmlformats.org/officeDocument/2006/relationships/slide" Target="slides/slide10.xml"/><Relationship Id="rId19" Type="http://schemas.openxmlformats.org/officeDocument/2006/relationships/font" Target="fonts/PlusJakartaSans-regular.fntdata"/><Relationship Id="rId18" Type="http://schemas.openxmlformats.org/officeDocument/2006/relationships/font" Target="fonts/PlusJakartaSansExtra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f7f414e3e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f7f414e3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11" Type="http://schemas.openxmlformats.org/officeDocument/2006/relationships/image" Target="../media/image12.png"/><Relationship Id="rId10" Type="http://schemas.openxmlformats.org/officeDocument/2006/relationships/image" Target="../media/image6.png"/><Relationship Id="rId9" Type="http://schemas.openxmlformats.org/officeDocument/2006/relationships/image" Target="../media/image10.png"/><Relationship Id="rId5" Type="http://schemas.openxmlformats.org/officeDocument/2006/relationships/image" Target="../media/image15.png"/><Relationship Id="rId6" Type="http://schemas.openxmlformats.org/officeDocument/2006/relationships/image" Target="../media/image2.png"/><Relationship Id="rId7" Type="http://schemas.openxmlformats.org/officeDocument/2006/relationships/image" Target="../media/image8.png"/><Relationship Id="rId8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5" Type="http://schemas.openxmlformats.org/officeDocument/2006/relationships/image" Target="../media/image1.png"/><Relationship Id="rId6" Type="http://schemas.openxmlformats.org/officeDocument/2006/relationships/image" Target="../media/image8.png"/><Relationship Id="rId7" Type="http://schemas.openxmlformats.org/officeDocument/2006/relationships/image" Target="../media/image3.png"/><Relationship Id="rId8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42.png"/><Relationship Id="rId10" Type="http://schemas.openxmlformats.org/officeDocument/2006/relationships/image" Target="../media/image9.png"/><Relationship Id="rId13" Type="http://schemas.openxmlformats.org/officeDocument/2006/relationships/image" Target="../media/image23.png"/><Relationship Id="rId1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13.png"/><Relationship Id="rId14" Type="http://schemas.openxmlformats.org/officeDocument/2006/relationships/image" Target="../media/image25.png"/><Relationship Id="rId5" Type="http://schemas.openxmlformats.org/officeDocument/2006/relationships/image" Target="../media/image21.png"/><Relationship Id="rId6" Type="http://schemas.openxmlformats.org/officeDocument/2006/relationships/image" Target="../media/image8.png"/><Relationship Id="rId7" Type="http://schemas.openxmlformats.org/officeDocument/2006/relationships/image" Target="../media/image16.png"/><Relationship Id="rId8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8.png"/><Relationship Id="rId10" Type="http://schemas.openxmlformats.org/officeDocument/2006/relationships/image" Target="../media/image24.png"/><Relationship Id="rId13" Type="http://schemas.openxmlformats.org/officeDocument/2006/relationships/image" Target="../media/image39.png"/><Relationship Id="rId1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Relationship Id="rId9" Type="http://schemas.openxmlformats.org/officeDocument/2006/relationships/image" Target="../media/image26.png"/><Relationship Id="rId14" Type="http://schemas.openxmlformats.org/officeDocument/2006/relationships/image" Target="../media/image3.png"/><Relationship Id="rId5" Type="http://schemas.openxmlformats.org/officeDocument/2006/relationships/image" Target="../media/image33.png"/><Relationship Id="rId6" Type="http://schemas.openxmlformats.org/officeDocument/2006/relationships/image" Target="../media/image18.png"/><Relationship Id="rId7" Type="http://schemas.openxmlformats.org/officeDocument/2006/relationships/image" Target="../media/image22.png"/><Relationship Id="rId8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7.png"/><Relationship Id="rId9" Type="http://schemas.openxmlformats.org/officeDocument/2006/relationships/image" Target="../media/image3.png"/><Relationship Id="rId5" Type="http://schemas.openxmlformats.org/officeDocument/2006/relationships/image" Target="../media/image27.png"/><Relationship Id="rId6" Type="http://schemas.openxmlformats.org/officeDocument/2006/relationships/image" Target="../media/image41.png"/><Relationship Id="rId7" Type="http://schemas.openxmlformats.org/officeDocument/2006/relationships/image" Target="../media/image30.png"/><Relationship Id="rId8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31.png"/><Relationship Id="rId5" Type="http://schemas.openxmlformats.org/officeDocument/2006/relationships/image" Target="../media/image8.png"/><Relationship Id="rId6" Type="http://schemas.openxmlformats.org/officeDocument/2006/relationships/image" Target="../media/image3.png"/><Relationship Id="rId7" Type="http://schemas.openxmlformats.org/officeDocument/2006/relationships/image" Target="../media/image32.png"/><Relationship Id="rId8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34.png"/><Relationship Id="rId5" Type="http://schemas.openxmlformats.org/officeDocument/2006/relationships/image" Target="../media/image8.png"/><Relationship Id="rId6" Type="http://schemas.openxmlformats.org/officeDocument/2006/relationships/image" Target="../media/image3.png"/><Relationship Id="rId7" Type="http://schemas.openxmlformats.org/officeDocument/2006/relationships/image" Target="../media/image35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38.png"/><Relationship Id="rId10" Type="http://schemas.openxmlformats.org/officeDocument/2006/relationships/image" Target="../media/image50.png"/><Relationship Id="rId1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34.png"/><Relationship Id="rId9" Type="http://schemas.openxmlformats.org/officeDocument/2006/relationships/image" Target="../media/image36.png"/><Relationship Id="rId5" Type="http://schemas.openxmlformats.org/officeDocument/2006/relationships/image" Target="../media/image8.png"/><Relationship Id="rId6" Type="http://schemas.openxmlformats.org/officeDocument/2006/relationships/image" Target="../media/image3.png"/><Relationship Id="rId7" Type="http://schemas.openxmlformats.org/officeDocument/2006/relationships/image" Target="../media/image46.png"/><Relationship Id="rId8" Type="http://schemas.openxmlformats.org/officeDocument/2006/relationships/image" Target="../media/image40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49.png"/><Relationship Id="rId10" Type="http://schemas.openxmlformats.org/officeDocument/2006/relationships/image" Target="../media/image51.png"/><Relationship Id="rId1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43.png"/><Relationship Id="rId9" Type="http://schemas.openxmlformats.org/officeDocument/2006/relationships/image" Target="../media/image3.png"/><Relationship Id="rId5" Type="http://schemas.openxmlformats.org/officeDocument/2006/relationships/image" Target="../media/image45.png"/><Relationship Id="rId6" Type="http://schemas.openxmlformats.org/officeDocument/2006/relationships/image" Target="../media/image48.png"/><Relationship Id="rId7" Type="http://schemas.openxmlformats.org/officeDocument/2006/relationships/image" Target="../media/image47.png"/><Relationship Id="rId8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krushnads25/SolarSense-AI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0312" y="1290637"/>
            <a:ext cx="5167312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" y="4685407"/>
            <a:ext cx="5167312" cy="605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4375" y="1290637"/>
            <a:ext cx="29241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4375" y="6057900"/>
            <a:ext cx="107632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9477375" y="6210300"/>
            <a:ext cx="200025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Slide 1 of 10 • Academic Evaluation Deck</a:t>
            </a:r>
            <a:endParaRPr/>
          </a:p>
        </p:txBody>
      </p:sp>
      <p:pic>
        <p:nvPicPr>
          <p:cNvPr descr="image.png" id="90" name="Google Shape;90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4375" y="6219825"/>
            <a:ext cx="104775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1514475" y="6210300"/>
            <a:ext cx="10477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</a:t>
            </a:r>
            <a:endParaRPr/>
          </a:p>
        </p:txBody>
      </p:sp>
      <p:pic>
        <p:nvPicPr>
          <p:cNvPr descr="image.png" id="92" name="Google Shape;92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19837" y="1300162"/>
            <a:ext cx="5148262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714375" y="1757362"/>
            <a:ext cx="5425678" cy="569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SolarSense AI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714375" y="2384077"/>
            <a:ext cx="5167312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284C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Agentic Solar Installation Advisor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809625" y="2801242"/>
            <a:ext cx="5072062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"Making solar adoption logical, mathematically calculated, and transparent."</a:t>
            </a: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714375" y="2801242"/>
            <a:ext cx="28575" cy="21327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7" name="Google Shape;97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8200" y="1371600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 txBox="1"/>
          <p:nvPr/>
        </p:nvSpPr>
        <p:spPr>
          <a:xfrm>
            <a:off x="714375" y="4942582"/>
            <a:ext cx="77152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EVALUATED BY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714375" y="5085457"/>
            <a:ext cx="2512218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Review Panel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3369468" y="4942582"/>
            <a:ext cx="78105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SYSTEM STACK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3369468" y="5085457"/>
            <a:ext cx="2512218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19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Autonomous n8n Workflow</a:t>
            </a:r>
            <a:endParaRPr/>
          </a:p>
        </p:txBody>
      </p:sp>
      <p:pic>
        <p:nvPicPr>
          <p:cNvPr descr="image.png" id="102" name="Google Shape;102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369468" y="5133082"/>
            <a:ext cx="161925" cy="128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0312" y="2745581"/>
            <a:ext cx="5167312" cy="17383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6537" y="3836193"/>
            <a:ext cx="4643437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4375" y="6057900"/>
            <a:ext cx="107632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9848850" y="6210300"/>
            <a:ext cx="162877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Slide 2 of 10 • Problem Definition</a:t>
            </a:r>
            <a:endParaRPr/>
          </a:p>
        </p:txBody>
      </p:sp>
      <p:pic>
        <p:nvPicPr>
          <p:cNvPr descr="image.png" id="112" name="Google Shape;11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4375" y="6219825"/>
            <a:ext cx="104775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/>
        </p:nvSpPr>
        <p:spPr>
          <a:xfrm>
            <a:off x="1514475" y="6210300"/>
            <a:ext cx="10477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714375" y="2276326"/>
            <a:ext cx="5167312" cy="502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37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Homeowners globally express high structural interest in transition, but face information hurdles.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981075" y="2969567"/>
            <a:ext cx="4900612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7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Missing Sizing Rules:</a:t>
            </a:r>
            <a:r>
              <a:rPr b="0" i="0" lang="en-US" sz="1087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Determining structural and electrical capacity requires engineering calculation variables.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981075" y="3517255"/>
            <a:ext cx="4900612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7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Incomplete ROI Models:</a:t>
            </a:r>
            <a:r>
              <a:rPr b="0" i="0" lang="en-US" sz="1087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Dynamic tracking of utility tariffs, installation costs, and localized subsidies is obscure.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981075" y="4064942"/>
            <a:ext cx="4900612" cy="207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7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Trust Gap:</a:t>
            </a:r>
            <a:r>
              <a:rPr b="0" i="0" lang="en-US" sz="1087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Difficulty finding vetted, regional system installation providers.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981075" y="4405461"/>
            <a:ext cx="4900612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7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Slow Analog Sales Cycles:</a:t>
            </a:r>
            <a:r>
              <a:rPr b="0" i="0" lang="en-US" sz="1087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Traditional consultation pipelines require 2–3 weeks of on-site vendor inspection.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6815137" y="2993231"/>
            <a:ext cx="4635579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54D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Academic Case Insight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6586537" y="3307556"/>
            <a:ext cx="4643437" cy="385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713F1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Analysis shows over 78% of prospective residential clean-energy customers exit the transaction pipeline due to analytical decision paralysis.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857250" y="523875"/>
            <a:ext cx="11151393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Rooftop Solar Adoption Barriers</a:t>
            </a:r>
            <a:endParaRPr/>
          </a:p>
        </p:txBody>
      </p:sp>
      <p:sp>
        <p:nvSpPr>
          <p:cNvPr id="122" name="Google Shape;122;p14"/>
          <p:cNvSpPr/>
          <p:nvPr/>
        </p:nvSpPr>
        <p:spPr>
          <a:xfrm>
            <a:off x="714375" y="523875"/>
            <a:ext cx="47625" cy="409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3" name="Google Shape;12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4375" y="298861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4375" y="353630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4375" y="408399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4375" y="4424511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86537" y="3017043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0312" y="2509837"/>
            <a:ext cx="5167312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57962" y="3081337"/>
            <a:ext cx="2278856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51118" y="3081337"/>
            <a:ext cx="2278856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57962" y="3833812"/>
            <a:ext cx="2278856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51118" y="3833812"/>
            <a:ext cx="2278856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4375" y="6057900"/>
            <a:ext cx="107632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35083" y="619125"/>
            <a:ext cx="1042541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5"/>
          <p:cNvSpPr txBox="1"/>
          <p:nvPr/>
        </p:nvSpPr>
        <p:spPr>
          <a:xfrm>
            <a:off x="9734550" y="6210300"/>
            <a:ext cx="174307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Slide 3 of 10 • Technical Philosophy</a:t>
            </a:r>
            <a:endParaRPr/>
          </a:p>
        </p:txBody>
      </p:sp>
      <p:pic>
        <p:nvPicPr>
          <p:cNvPr descr="image.png" id="141" name="Google Shape;14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4375" y="6219825"/>
            <a:ext cx="104775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5"/>
          <p:cNvSpPr txBox="1"/>
          <p:nvPr/>
        </p:nvSpPr>
        <p:spPr>
          <a:xfrm>
            <a:off x="1514475" y="6210300"/>
            <a:ext cx="10477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714375" y="2283916"/>
            <a:ext cx="5167312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This architecture doesn't just conversationalize; it executes complex, automated structural logic on behalf of the customer.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981075" y="2961977"/>
            <a:ext cx="4900612" cy="207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7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Active Data Ingestion:</a:t>
            </a:r>
            <a:r>
              <a:rPr b="0" i="0" lang="en-US" sz="1087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Collects 5 key operational metrics from the user.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981075" y="3302496"/>
            <a:ext cx="4900612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7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Logical Calculation:</a:t>
            </a:r>
            <a:r>
              <a:rPr b="0" i="0" lang="en-US" sz="1087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Runs algorithms instead of estimating ranges or hallucinating.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981075" y="3850183"/>
            <a:ext cx="4900612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7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Document Compiler:</a:t>
            </a:r>
            <a:r>
              <a:rPr b="0" i="0" lang="en-US" sz="1087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Dynamically compiles and generates formal PDF report payloads.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981075" y="4397871"/>
            <a:ext cx="4900612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7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Relational DB Mapping:</a:t>
            </a:r>
            <a:r>
              <a:rPr b="0" i="0" lang="en-US" sz="1087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Interrogates location tables to map certified installers based on PIN code.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6796087" y="2757487"/>
            <a:ext cx="4655581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Platform Tech Stack</a:t>
            </a:r>
            <a:endParaRPr/>
          </a:p>
        </p:txBody>
      </p:sp>
      <p:pic>
        <p:nvPicPr>
          <p:cNvPr descr="image.png" id="149" name="Google Shape;149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74943" y="4129087"/>
            <a:ext cx="8286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5"/>
          <p:cNvSpPr txBox="1"/>
          <p:nvPr/>
        </p:nvSpPr>
        <p:spPr>
          <a:xfrm>
            <a:off x="857250" y="523875"/>
            <a:ext cx="11151393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True Agentic AI Solution</a:t>
            </a:r>
            <a:endParaRPr/>
          </a:p>
        </p:txBody>
      </p:sp>
      <p:sp>
        <p:nvSpPr>
          <p:cNvPr id="151" name="Google Shape;151;p15"/>
          <p:cNvSpPr/>
          <p:nvPr/>
        </p:nvSpPr>
        <p:spPr>
          <a:xfrm>
            <a:off x="714375" y="523875"/>
            <a:ext cx="47625" cy="409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2" name="Google Shape;152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14375" y="298102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14375" y="3321546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14375" y="3869233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14375" y="4416921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57962" y="2776537"/>
            <a:ext cx="1619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5"/>
          <p:cNvSpPr txBox="1"/>
          <p:nvPr/>
        </p:nvSpPr>
        <p:spPr>
          <a:xfrm>
            <a:off x="6681787" y="3205162"/>
            <a:ext cx="2031206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ENGINE</a:t>
            </a:r>
            <a:endParaRPr/>
          </a:p>
        </p:txBody>
      </p:sp>
      <p:pic>
        <p:nvPicPr>
          <p:cNvPr descr="image.png" id="158" name="Google Shape;158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681787" y="3376612"/>
            <a:ext cx="6572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5"/>
          <p:cNvSpPr txBox="1"/>
          <p:nvPr/>
        </p:nvSpPr>
        <p:spPr>
          <a:xfrm>
            <a:off x="9074943" y="3205162"/>
            <a:ext cx="2031206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LLM REASONING</a:t>
            </a:r>
            <a:endParaRPr/>
          </a:p>
        </p:txBody>
      </p:sp>
      <p:pic>
        <p:nvPicPr>
          <p:cNvPr descr="image.png" id="160" name="Google Shape;160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074943" y="3376612"/>
            <a:ext cx="7429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5"/>
          <p:cNvSpPr txBox="1"/>
          <p:nvPr/>
        </p:nvSpPr>
        <p:spPr>
          <a:xfrm>
            <a:off x="6681787" y="3957637"/>
            <a:ext cx="2031206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REGISTRY CRM</a:t>
            </a:r>
            <a:endParaRPr/>
          </a:p>
        </p:txBody>
      </p:sp>
      <p:pic>
        <p:nvPicPr>
          <p:cNvPr descr="image.png" id="162" name="Google Shape;162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681787" y="4129087"/>
            <a:ext cx="971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5"/>
          <p:cNvSpPr txBox="1"/>
          <p:nvPr/>
        </p:nvSpPr>
        <p:spPr>
          <a:xfrm>
            <a:off x="9074943" y="3957637"/>
            <a:ext cx="2031206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" y="2815679"/>
            <a:ext cx="2583656" cy="12686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40906" y="2815679"/>
            <a:ext cx="2583656" cy="12686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67437" y="2815679"/>
            <a:ext cx="2583656" cy="12686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93968" y="2815679"/>
            <a:ext cx="2583656" cy="12686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882378" y="3015704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08909" y="3015704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335440" y="3015704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061971" y="3015704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14375" y="6057900"/>
            <a:ext cx="107632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6"/>
          <p:cNvSpPr txBox="1"/>
          <p:nvPr/>
        </p:nvSpPr>
        <p:spPr>
          <a:xfrm>
            <a:off x="714375" y="2301329"/>
            <a:ext cx="10763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Agent steps systematically through validation, mathematical evaluation, localized vendor compilation, and document distribution.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9867900" y="6210300"/>
            <a:ext cx="160972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Slide 4 of 10 • Workflow Pipeline</a:t>
            </a:r>
            <a:endParaRPr/>
          </a:p>
        </p:txBody>
      </p:sp>
      <p:pic>
        <p:nvPicPr>
          <p:cNvPr descr="image.png" id="180" name="Google Shape;180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62025" y="457765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6"/>
          <p:cNvSpPr txBox="1"/>
          <p:nvPr/>
        </p:nvSpPr>
        <p:spPr>
          <a:xfrm>
            <a:off x="1295400" y="4570065"/>
            <a:ext cx="6915150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16653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Execution Metric: The entire workflow loop executes from ingestion trigger to email delivery in less than 4 seconds.</a:t>
            </a:r>
            <a:endParaRPr/>
          </a:p>
        </p:txBody>
      </p:sp>
      <p:pic>
        <p:nvPicPr>
          <p:cNvPr descr="image.png" id="182" name="Google Shape;182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14375" y="6219825"/>
            <a:ext cx="104775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6"/>
          <p:cNvSpPr txBox="1"/>
          <p:nvPr/>
        </p:nvSpPr>
        <p:spPr>
          <a:xfrm>
            <a:off x="1514475" y="6210300"/>
            <a:ext cx="10477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866775" y="3358604"/>
            <a:ext cx="22788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Validate Inputs</a:t>
            </a:r>
            <a:endParaRPr/>
          </a:p>
        </p:txBody>
      </p:sp>
      <p:sp>
        <p:nvSpPr>
          <p:cNvPr id="185" name="Google Shape;185;p16"/>
          <p:cNvSpPr txBox="1"/>
          <p:nvPr/>
        </p:nvSpPr>
        <p:spPr>
          <a:xfrm>
            <a:off x="866775" y="3577679"/>
            <a:ext cx="2278856" cy="306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2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Parse Name, Email, PIN, Roof Area, and Bill metrics.</a:t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3593306" y="3358604"/>
            <a:ext cx="22788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Compute Capacity</a:t>
            </a:r>
            <a:endParaRPr/>
          </a:p>
        </p:txBody>
      </p:sp>
      <p:sp>
        <p:nvSpPr>
          <p:cNvPr id="187" name="Google Shape;187;p16"/>
          <p:cNvSpPr txBox="1"/>
          <p:nvPr/>
        </p:nvSpPr>
        <p:spPr>
          <a:xfrm>
            <a:off x="3593306" y="3577679"/>
            <a:ext cx="2278856" cy="306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2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Estimate required kW sizing and panel counts.</a:t>
            </a: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6319837" y="3358604"/>
            <a:ext cx="22788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Feasibility Model</a:t>
            </a:r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6319837" y="3577679"/>
            <a:ext cx="2278856" cy="306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2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Compare space demands against physical roof constraints.</a:t>
            </a:r>
            <a:endParaRPr/>
          </a:p>
        </p:txBody>
      </p:sp>
      <p:sp>
        <p:nvSpPr>
          <p:cNvPr id="190" name="Google Shape;190;p16"/>
          <p:cNvSpPr txBox="1"/>
          <p:nvPr/>
        </p:nvSpPr>
        <p:spPr>
          <a:xfrm>
            <a:off x="9046368" y="3358604"/>
            <a:ext cx="22788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Fulfillment</a:t>
            </a:r>
            <a:endParaRPr/>
          </a:p>
        </p:txBody>
      </p:sp>
      <p:sp>
        <p:nvSpPr>
          <p:cNvPr id="191" name="Google Shape;191;p16"/>
          <p:cNvSpPr txBox="1"/>
          <p:nvPr/>
        </p:nvSpPr>
        <p:spPr>
          <a:xfrm>
            <a:off x="9046368" y="3577679"/>
            <a:ext cx="2278856" cy="306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2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 local vendors, construct PDF, and email report.</a:t>
            </a:r>
            <a:endParaRPr/>
          </a:p>
        </p:txBody>
      </p:sp>
      <p:sp>
        <p:nvSpPr>
          <p:cNvPr id="192" name="Google Shape;192;p16"/>
          <p:cNvSpPr txBox="1"/>
          <p:nvPr/>
        </p:nvSpPr>
        <p:spPr>
          <a:xfrm>
            <a:off x="857250" y="523875"/>
            <a:ext cx="11151393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Autonomous Workflow Execution Pipeline</a:t>
            </a:r>
            <a:endParaRPr/>
          </a:p>
        </p:txBody>
      </p:sp>
      <p:sp>
        <p:nvSpPr>
          <p:cNvPr id="193" name="Google Shape;193;p16"/>
          <p:cNvSpPr/>
          <p:nvPr/>
        </p:nvSpPr>
        <p:spPr>
          <a:xfrm>
            <a:off x="714375" y="523875"/>
            <a:ext cx="47625" cy="409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" y="3948410"/>
            <a:ext cx="5167312" cy="8161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0312" y="4018805"/>
            <a:ext cx="5167312" cy="6500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10312" y="2655837"/>
            <a:ext cx="2488406" cy="12200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89218" y="2655837"/>
            <a:ext cx="2488406" cy="12200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4375" y="6057900"/>
            <a:ext cx="107632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7"/>
          <p:cNvSpPr txBox="1"/>
          <p:nvPr/>
        </p:nvSpPr>
        <p:spPr>
          <a:xfrm>
            <a:off x="9648825" y="6210300"/>
            <a:ext cx="182880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Slide 5 of 10 • Feasibility Sizing Logic</a:t>
            </a:r>
            <a:endParaRPr/>
          </a:p>
        </p:txBody>
      </p:sp>
      <p:pic>
        <p:nvPicPr>
          <p:cNvPr descr="image.png" id="205" name="Google Shape;205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4375" y="6219825"/>
            <a:ext cx="104775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7"/>
          <p:cNvSpPr txBox="1"/>
          <p:nvPr/>
        </p:nvSpPr>
        <p:spPr>
          <a:xfrm>
            <a:off x="1514475" y="6210300"/>
            <a:ext cx="10477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</a:t>
            </a:r>
            <a:endParaRPr/>
          </a:p>
        </p:txBody>
      </p:sp>
      <p:sp>
        <p:nvSpPr>
          <p:cNvPr id="207" name="Google Shape;207;p17"/>
          <p:cNvSpPr txBox="1"/>
          <p:nvPr/>
        </p:nvSpPr>
        <p:spPr>
          <a:xfrm>
            <a:off x="714375" y="2464891"/>
            <a:ext cx="5167312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To secure user trust, recommendations must be geographically and architecturally realistic.</a:t>
            </a:r>
            <a:endParaRPr/>
          </a:p>
        </p:txBody>
      </p:sp>
      <p:sp>
        <p:nvSpPr>
          <p:cNvPr id="208" name="Google Shape;208;p17"/>
          <p:cNvSpPr txBox="1"/>
          <p:nvPr/>
        </p:nvSpPr>
        <p:spPr>
          <a:xfrm>
            <a:off x="714375" y="3095327"/>
            <a:ext cx="5167312" cy="662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Agent runs a conditional algorithm that evaluates whether the space indicated can physically support the capacity necessary to zero-out their utility statement.</a:t>
            </a:r>
            <a:endParaRPr/>
          </a:p>
        </p:txBody>
      </p:sp>
      <p:sp>
        <p:nvSpPr>
          <p:cNvPr id="209" name="Google Shape;209;p17"/>
          <p:cNvSpPr txBox="1"/>
          <p:nvPr/>
        </p:nvSpPr>
        <p:spPr>
          <a:xfrm>
            <a:off x="885825" y="4091285"/>
            <a:ext cx="4852987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AGENT OPTIMIZATION LOGIC</a:t>
            </a:r>
            <a:endParaRPr/>
          </a:p>
        </p:txBody>
      </p:sp>
      <p:sp>
        <p:nvSpPr>
          <p:cNvPr id="210" name="Google Shape;210;p17"/>
          <p:cNvSpPr txBox="1"/>
          <p:nvPr/>
        </p:nvSpPr>
        <p:spPr>
          <a:xfrm>
            <a:off x="885825" y="4262735"/>
            <a:ext cx="4852987" cy="3589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"Required Capacity &gt; Maximum Installable: Recommend physical constraint limit system (downscale safely) and suggest mounting designs."</a:t>
            </a:r>
            <a:endParaRPr/>
          </a:p>
        </p:txBody>
      </p:sp>
      <p:sp>
        <p:nvSpPr>
          <p:cNvPr id="211" name="Google Shape;211;p17"/>
          <p:cNvSpPr txBox="1"/>
          <p:nvPr/>
        </p:nvSpPr>
        <p:spPr>
          <a:xfrm>
            <a:off x="6462712" y="4180730"/>
            <a:ext cx="8191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Action Plan:</a:t>
            </a:r>
            <a:endParaRPr/>
          </a:p>
        </p:txBody>
      </p:sp>
      <p:sp>
        <p:nvSpPr>
          <p:cNvPr id="212" name="Google Shape;212;p17"/>
          <p:cNvSpPr txBox="1"/>
          <p:nvPr/>
        </p:nvSpPr>
        <p:spPr>
          <a:xfrm>
            <a:off x="6529387" y="2874912"/>
            <a:ext cx="2050256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BILL SIZING DEMANDS</a:t>
            </a:r>
            <a:endParaRPr/>
          </a:p>
        </p:txBody>
      </p:sp>
      <p:sp>
        <p:nvSpPr>
          <p:cNvPr id="213" name="Google Shape;213;p17"/>
          <p:cNvSpPr txBox="1"/>
          <p:nvPr/>
        </p:nvSpPr>
        <p:spPr>
          <a:xfrm>
            <a:off x="6529387" y="3093987"/>
            <a:ext cx="205025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5.0 </a:t>
            </a:r>
            <a:r>
              <a:rPr b="0" i="0" lang="en-US" sz="1950" u="none" cap="none" strike="noStrik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kW</a:t>
            </a:r>
            <a:endParaRPr/>
          </a:p>
        </p:txBody>
      </p:sp>
      <p:sp>
        <p:nvSpPr>
          <p:cNvPr id="214" name="Google Shape;214;p17"/>
          <p:cNvSpPr txBox="1"/>
          <p:nvPr/>
        </p:nvSpPr>
        <p:spPr>
          <a:xfrm>
            <a:off x="6529387" y="3503562"/>
            <a:ext cx="2050256" cy="153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2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Based on ₹ monthly utility bill inputs.</a:t>
            </a:r>
            <a:endParaRPr/>
          </a:p>
        </p:txBody>
      </p:sp>
      <p:sp>
        <p:nvSpPr>
          <p:cNvPr id="215" name="Google Shape;215;p17"/>
          <p:cNvSpPr txBox="1"/>
          <p:nvPr/>
        </p:nvSpPr>
        <p:spPr>
          <a:xfrm>
            <a:off x="9208293" y="2874912"/>
            <a:ext cx="2050256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ROOF MAX SPACE</a:t>
            </a:r>
            <a:endParaRPr/>
          </a:p>
        </p:txBody>
      </p:sp>
      <p:sp>
        <p:nvSpPr>
          <p:cNvPr id="216" name="Google Shape;216;p17"/>
          <p:cNvSpPr txBox="1"/>
          <p:nvPr/>
        </p:nvSpPr>
        <p:spPr>
          <a:xfrm>
            <a:off x="9208293" y="3093987"/>
            <a:ext cx="205025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66534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3.2 </a:t>
            </a:r>
            <a:r>
              <a:rPr b="0" i="0" lang="en-US" sz="1950" u="none" cap="none" strike="noStrik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kW</a:t>
            </a:r>
            <a:endParaRPr/>
          </a:p>
        </p:txBody>
      </p:sp>
      <p:sp>
        <p:nvSpPr>
          <p:cNvPr id="217" name="Google Shape;217;p17"/>
          <p:cNvSpPr txBox="1"/>
          <p:nvPr/>
        </p:nvSpPr>
        <p:spPr>
          <a:xfrm>
            <a:off x="9208293" y="3503562"/>
            <a:ext cx="2050256" cy="153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2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Based on entered roof sq.ft.</a:t>
            </a:r>
            <a:endParaRPr/>
          </a:p>
        </p:txBody>
      </p:sp>
      <p:sp>
        <p:nvSpPr>
          <p:cNvPr id="218" name="Google Shape;218;p17"/>
          <p:cNvSpPr txBox="1"/>
          <p:nvPr/>
        </p:nvSpPr>
        <p:spPr>
          <a:xfrm>
            <a:off x="857250" y="523875"/>
            <a:ext cx="11151393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Double-Gate Feasibility Check Engine</a:t>
            </a:r>
            <a:endParaRPr/>
          </a:p>
        </p:txBody>
      </p:sp>
      <p:sp>
        <p:nvSpPr>
          <p:cNvPr id="219" name="Google Shape;219;p17"/>
          <p:cNvSpPr/>
          <p:nvPr/>
        </p:nvSpPr>
        <p:spPr>
          <a:xfrm>
            <a:off x="714375" y="523875"/>
            <a:ext cx="47625" cy="409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" y="1614487"/>
            <a:ext cx="5167312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" y="6057900"/>
            <a:ext cx="107632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8"/>
          <p:cNvSpPr txBox="1"/>
          <p:nvPr/>
        </p:nvSpPr>
        <p:spPr>
          <a:xfrm>
            <a:off x="9334500" y="6210300"/>
            <a:ext cx="214312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Slide 6 of 10 • Computational Sizing Models</a:t>
            </a:r>
            <a:endParaRPr/>
          </a:p>
        </p:txBody>
      </p:sp>
      <p:pic>
        <p:nvPicPr>
          <p:cNvPr descr="image.png" id="228" name="Google Shape;22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4375" y="6219825"/>
            <a:ext cx="104775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8"/>
          <p:cNvSpPr txBox="1"/>
          <p:nvPr/>
        </p:nvSpPr>
        <p:spPr>
          <a:xfrm>
            <a:off x="1514475" y="6210300"/>
            <a:ext cx="10477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</a:t>
            </a:r>
            <a:endParaRPr/>
          </a:p>
        </p:txBody>
      </p:sp>
      <p:pic>
        <p:nvPicPr>
          <p:cNvPr descr="image.png" id="230" name="Google Shape;23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3900" y="1624012"/>
            <a:ext cx="5148262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8"/>
          <p:cNvSpPr txBox="1"/>
          <p:nvPr/>
        </p:nvSpPr>
        <p:spPr>
          <a:xfrm>
            <a:off x="6310312" y="2302222"/>
            <a:ext cx="5167312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The system uses structural estimation factors to calculate yield:</a:t>
            </a:r>
            <a:endParaRPr/>
          </a:p>
        </p:txBody>
      </p:sp>
      <p:sp>
        <p:nvSpPr>
          <p:cNvPr id="232" name="Google Shape;232;p18"/>
          <p:cNvSpPr txBox="1"/>
          <p:nvPr/>
        </p:nvSpPr>
        <p:spPr>
          <a:xfrm>
            <a:off x="6577012" y="2736502"/>
            <a:ext cx="4900612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7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 Cost Model:</a:t>
            </a:r>
            <a:r>
              <a:rPr b="0" i="0" lang="en-US" sz="1087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Approximate pricing scale based on computed kW size, calculating modular frame and hardware installation.</a:t>
            </a:r>
            <a:endParaRPr/>
          </a:p>
        </p:txBody>
      </p:sp>
      <p:sp>
        <p:nvSpPr>
          <p:cNvPr id="233" name="Google Shape;233;p18"/>
          <p:cNvSpPr txBox="1"/>
          <p:nvPr/>
        </p:nvSpPr>
        <p:spPr>
          <a:xfrm>
            <a:off x="6577012" y="3284190"/>
            <a:ext cx="4900612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7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Yield Forecasting:</a:t>
            </a:r>
            <a:r>
              <a:rPr b="0" i="0" lang="en-US" sz="1087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Computes monthly &amp; yearly savings curves using average power tariffs.</a:t>
            </a:r>
            <a:endParaRPr/>
          </a:p>
        </p:txBody>
      </p:sp>
      <p:sp>
        <p:nvSpPr>
          <p:cNvPr id="234" name="Google Shape;234;p18"/>
          <p:cNvSpPr txBox="1"/>
          <p:nvPr/>
        </p:nvSpPr>
        <p:spPr>
          <a:xfrm>
            <a:off x="6577012" y="3831877"/>
            <a:ext cx="4900612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7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Investigative ROI:</a:t>
            </a:r>
            <a:r>
              <a:rPr b="0" i="0" lang="en-US" sz="1087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Returns a practical estimate of the system payback timeline (years to break even).</a:t>
            </a:r>
            <a:endParaRPr/>
          </a:p>
        </p:txBody>
      </p:sp>
      <p:sp>
        <p:nvSpPr>
          <p:cNvPr id="235" name="Google Shape;235;p18"/>
          <p:cNvSpPr txBox="1"/>
          <p:nvPr/>
        </p:nvSpPr>
        <p:spPr>
          <a:xfrm>
            <a:off x="6577012" y="4379565"/>
            <a:ext cx="4900612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7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Carbon Equivalent:</a:t>
            </a:r>
            <a:r>
              <a:rPr b="0" i="0" lang="en-US" sz="1087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Standardizes calculated offset into metrics of CO₂ tons reduced annually.</a:t>
            </a:r>
            <a:endParaRPr/>
          </a:p>
        </p:txBody>
      </p:sp>
      <p:sp>
        <p:nvSpPr>
          <p:cNvPr id="236" name="Google Shape;236;p18"/>
          <p:cNvSpPr txBox="1"/>
          <p:nvPr/>
        </p:nvSpPr>
        <p:spPr>
          <a:xfrm>
            <a:off x="857250" y="523875"/>
            <a:ext cx="11151393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Analytical Model: Financial &amp; Carbon Yield</a:t>
            </a:r>
            <a:endParaRPr/>
          </a:p>
        </p:txBody>
      </p:sp>
      <p:sp>
        <p:nvSpPr>
          <p:cNvPr id="237" name="Google Shape;237;p18"/>
          <p:cNvSpPr/>
          <p:nvPr/>
        </p:nvSpPr>
        <p:spPr>
          <a:xfrm>
            <a:off x="714375" y="523875"/>
            <a:ext cx="47625" cy="409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8" name="Google Shape;238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10312" y="275555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10312" y="330324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10312" y="385092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10312" y="4398615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6" name="Google Shape;24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" y="2744092"/>
            <a:ext cx="10763250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" y="6057900"/>
            <a:ext cx="107632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9"/>
          <p:cNvSpPr txBox="1"/>
          <p:nvPr/>
        </p:nvSpPr>
        <p:spPr>
          <a:xfrm>
            <a:off x="714375" y="2332732"/>
            <a:ext cx="10763250" cy="220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Analyzing the operational efficiencies of agentic loops against archaic process systems.</a:t>
            </a:r>
            <a:endParaRPr/>
          </a:p>
        </p:txBody>
      </p:sp>
      <p:sp>
        <p:nvSpPr>
          <p:cNvPr id="250" name="Google Shape;250;p19"/>
          <p:cNvSpPr txBox="1"/>
          <p:nvPr/>
        </p:nvSpPr>
        <p:spPr>
          <a:xfrm>
            <a:off x="9620250" y="6210300"/>
            <a:ext cx="185737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Slide 7 of 10 • Structural Metrics Table</a:t>
            </a:r>
            <a:endParaRPr/>
          </a:p>
        </p:txBody>
      </p:sp>
      <p:graphicFrame>
        <p:nvGraphicFramePr>
          <p:cNvPr id="251" name="Google Shape;251;p19"/>
          <p:cNvGraphicFramePr/>
          <p:nvPr/>
        </p:nvGraphicFramePr>
        <p:xfrm>
          <a:off x="723900" y="27536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{EF3457EF-6F56-4154-B40F-9AC9C2D7C286}</a:tableStyleId>
              </a:tblPr>
              <a:tblGrid>
                <a:gridCol w="2647500"/>
                <a:gridCol w="2233900"/>
                <a:gridCol w="2529325"/>
                <a:gridCol w="3333450"/>
              </a:tblGrid>
              <a:tr h="42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Operations 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Traditional Consultation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Legacy Static Calculators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15803D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SolarSense Agent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</a:tr>
              <a:tr h="42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Response Duration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14 - 21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Instantaneous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&lt; 4 Seconds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</a:tr>
              <a:tr h="42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Calculated Feasibility Check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Manual tape evaluation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Not available / None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Automated conditional logic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</a:tr>
              <a:tr h="42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Vendor Match Curation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Unstructured brokers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Broad, non-local advertising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Local PIN database query mapping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</a:tr>
              <a:tr h="42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Report Generation &amp; Delivery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None / Manual PDF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None / Simple screen math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Automated HTML to PDF email pipeline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pic>
        <p:nvPicPr>
          <p:cNvPr descr="image.png" id="252" name="Google Shape;25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4375" y="6219825"/>
            <a:ext cx="104775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9"/>
          <p:cNvSpPr txBox="1"/>
          <p:nvPr/>
        </p:nvSpPr>
        <p:spPr>
          <a:xfrm>
            <a:off x="1514475" y="6210300"/>
            <a:ext cx="10477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</a:t>
            </a:r>
            <a:endParaRPr/>
          </a:p>
        </p:txBody>
      </p:sp>
      <p:sp>
        <p:nvSpPr>
          <p:cNvPr id="254" name="Google Shape;254;p19"/>
          <p:cNvSpPr/>
          <p:nvPr/>
        </p:nvSpPr>
        <p:spPr>
          <a:xfrm>
            <a:off x="723900" y="3167955"/>
            <a:ext cx="26475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3371403" y="3167955"/>
            <a:ext cx="22339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5605313" y="3167955"/>
            <a:ext cx="25293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8134647" y="3167955"/>
            <a:ext cx="33334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723900" y="3596580"/>
            <a:ext cx="26475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3371403" y="3596580"/>
            <a:ext cx="22339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5605313" y="3596580"/>
            <a:ext cx="25293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8134647" y="3596580"/>
            <a:ext cx="33334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723900" y="4025205"/>
            <a:ext cx="26475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3371403" y="4025205"/>
            <a:ext cx="22339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5605313" y="4025205"/>
            <a:ext cx="25293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8134647" y="4025205"/>
            <a:ext cx="33334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723900" y="4453830"/>
            <a:ext cx="26475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9"/>
          <p:cNvSpPr/>
          <p:nvPr/>
        </p:nvSpPr>
        <p:spPr>
          <a:xfrm>
            <a:off x="3371403" y="4453830"/>
            <a:ext cx="22339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9"/>
          <p:cNvSpPr/>
          <p:nvPr/>
        </p:nvSpPr>
        <p:spPr>
          <a:xfrm>
            <a:off x="5605313" y="4453830"/>
            <a:ext cx="25293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8134647" y="4453830"/>
            <a:ext cx="33334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0" name="Google Shape;27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25147" y="2906017"/>
            <a:ext cx="12382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9"/>
          <p:cNvSpPr txBox="1"/>
          <p:nvPr/>
        </p:nvSpPr>
        <p:spPr>
          <a:xfrm>
            <a:off x="857250" y="523875"/>
            <a:ext cx="11151393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 Execution Framework Comparison</a:t>
            </a:r>
            <a:endParaRPr/>
          </a:p>
        </p:txBody>
      </p:sp>
      <p:sp>
        <p:nvSpPr>
          <p:cNvPr id="272" name="Google Shape;272;p19"/>
          <p:cNvSpPr/>
          <p:nvPr/>
        </p:nvSpPr>
        <p:spPr>
          <a:xfrm>
            <a:off x="714375" y="523875"/>
            <a:ext cx="47625" cy="409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7" name="Google Shape;27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" y="2744092"/>
            <a:ext cx="10763250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" y="6057900"/>
            <a:ext cx="107632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0"/>
          <p:cNvSpPr txBox="1"/>
          <p:nvPr/>
        </p:nvSpPr>
        <p:spPr>
          <a:xfrm>
            <a:off x="714375" y="2332732"/>
            <a:ext cx="10763250" cy="220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Positioning comparative feature categories to show operational coverage across the ecosystem lifecycle.</a:t>
            </a:r>
            <a:endParaRPr/>
          </a:p>
        </p:txBody>
      </p:sp>
      <p:sp>
        <p:nvSpPr>
          <p:cNvPr id="281" name="Google Shape;281;p20"/>
          <p:cNvSpPr txBox="1"/>
          <p:nvPr/>
        </p:nvSpPr>
        <p:spPr>
          <a:xfrm>
            <a:off x="10077450" y="6210300"/>
            <a:ext cx="140017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Slide 8 of 10 • Feature Matrix</a:t>
            </a:r>
            <a:endParaRPr/>
          </a:p>
        </p:txBody>
      </p:sp>
      <p:graphicFrame>
        <p:nvGraphicFramePr>
          <p:cNvPr id="282" name="Google Shape;282;p20"/>
          <p:cNvGraphicFramePr/>
          <p:nvPr/>
        </p:nvGraphicFramePr>
        <p:xfrm>
          <a:off x="723900" y="27536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{EF3457EF-6F56-4154-B40F-9AC9C2D7C286}</a:tableStyleId>
              </a:tblPr>
              <a:tblGrid>
                <a:gridCol w="3342225"/>
                <a:gridCol w="2126900"/>
                <a:gridCol w="1507025"/>
                <a:gridCol w="2029725"/>
                <a:gridCol w="1738300"/>
              </a:tblGrid>
              <a:tr h="42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Evaluation Segment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Basic Web Calculator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Lead Brokers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Chatbots (LLM only)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15803D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SolarSense AI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</a:tr>
              <a:tr h="42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Logical Capacity Assessment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</a:tr>
              <a:tr h="42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Automated Feasibility Check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</a:tr>
              <a:tr h="42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Geographical PIN-to-Vendor Mapping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</a:tr>
              <a:tr h="42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Document Compilation &amp; Delivery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pic>
        <p:nvPicPr>
          <p:cNvPr descr="image.png" id="283" name="Google Shape;28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4375" y="6219825"/>
            <a:ext cx="104775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0"/>
          <p:cNvSpPr txBox="1"/>
          <p:nvPr/>
        </p:nvSpPr>
        <p:spPr>
          <a:xfrm>
            <a:off x="1514475" y="6210300"/>
            <a:ext cx="10477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</a:t>
            </a:r>
            <a:endParaRPr/>
          </a:p>
        </p:txBody>
      </p:sp>
      <p:sp>
        <p:nvSpPr>
          <p:cNvPr id="285" name="Google Shape;285;p20"/>
          <p:cNvSpPr/>
          <p:nvPr/>
        </p:nvSpPr>
        <p:spPr>
          <a:xfrm>
            <a:off x="723900" y="3167955"/>
            <a:ext cx="33422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0"/>
          <p:cNvSpPr/>
          <p:nvPr/>
        </p:nvSpPr>
        <p:spPr>
          <a:xfrm>
            <a:off x="4066133" y="3167955"/>
            <a:ext cx="21269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0"/>
          <p:cNvSpPr/>
          <p:nvPr/>
        </p:nvSpPr>
        <p:spPr>
          <a:xfrm>
            <a:off x="6193035" y="3167955"/>
            <a:ext cx="15070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0"/>
          <p:cNvSpPr/>
          <p:nvPr/>
        </p:nvSpPr>
        <p:spPr>
          <a:xfrm>
            <a:off x="7700069" y="3167955"/>
            <a:ext cx="20297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0"/>
          <p:cNvSpPr/>
          <p:nvPr/>
        </p:nvSpPr>
        <p:spPr>
          <a:xfrm>
            <a:off x="9729787" y="3167955"/>
            <a:ext cx="17383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0"/>
          <p:cNvSpPr/>
          <p:nvPr/>
        </p:nvSpPr>
        <p:spPr>
          <a:xfrm>
            <a:off x="723900" y="3596580"/>
            <a:ext cx="33422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0"/>
          <p:cNvSpPr/>
          <p:nvPr/>
        </p:nvSpPr>
        <p:spPr>
          <a:xfrm>
            <a:off x="4066133" y="3596580"/>
            <a:ext cx="21269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0"/>
          <p:cNvSpPr/>
          <p:nvPr/>
        </p:nvSpPr>
        <p:spPr>
          <a:xfrm>
            <a:off x="6193035" y="3596580"/>
            <a:ext cx="15070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0"/>
          <p:cNvSpPr/>
          <p:nvPr/>
        </p:nvSpPr>
        <p:spPr>
          <a:xfrm>
            <a:off x="7700069" y="3596580"/>
            <a:ext cx="20297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0"/>
          <p:cNvSpPr/>
          <p:nvPr/>
        </p:nvSpPr>
        <p:spPr>
          <a:xfrm>
            <a:off x="9729787" y="3596580"/>
            <a:ext cx="17383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0"/>
          <p:cNvSpPr/>
          <p:nvPr/>
        </p:nvSpPr>
        <p:spPr>
          <a:xfrm>
            <a:off x="723900" y="4025205"/>
            <a:ext cx="33422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0"/>
          <p:cNvSpPr/>
          <p:nvPr/>
        </p:nvSpPr>
        <p:spPr>
          <a:xfrm>
            <a:off x="4066133" y="4025205"/>
            <a:ext cx="21269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0"/>
          <p:cNvSpPr/>
          <p:nvPr/>
        </p:nvSpPr>
        <p:spPr>
          <a:xfrm>
            <a:off x="6193035" y="4025205"/>
            <a:ext cx="15070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0"/>
          <p:cNvSpPr/>
          <p:nvPr/>
        </p:nvSpPr>
        <p:spPr>
          <a:xfrm>
            <a:off x="7700069" y="4025205"/>
            <a:ext cx="20297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0"/>
          <p:cNvSpPr/>
          <p:nvPr/>
        </p:nvSpPr>
        <p:spPr>
          <a:xfrm>
            <a:off x="9729787" y="4025205"/>
            <a:ext cx="17383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0"/>
          <p:cNvSpPr/>
          <p:nvPr/>
        </p:nvSpPr>
        <p:spPr>
          <a:xfrm>
            <a:off x="723900" y="4453830"/>
            <a:ext cx="33422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0"/>
          <p:cNvSpPr/>
          <p:nvPr/>
        </p:nvSpPr>
        <p:spPr>
          <a:xfrm>
            <a:off x="4066133" y="4453830"/>
            <a:ext cx="21269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0"/>
          <p:cNvSpPr/>
          <p:nvPr/>
        </p:nvSpPr>
        <p:spPr>
          <a:xfrm>
            <a:off x="6193035" y="4453830"/>
            <a:ext cx="15070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0"/>
          <p:cNvSpPr/>
          <p:nvPr/>
        </p:nvSpPr>
        <p:spPr>
          <a:xfrm>
            <a:off x="7700069" y="4453830"/>
            <a:ext cx="20297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0"/>
          <p:cNvSpPr/>
          <p:nvPr/>
        </p:nvSpPr>
        <p:spPr>
          <a:xfrm>
            <a:off x="9729787" y="4453830"/>
            <a:ext cx="17383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5" name="Google Shape;305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3535" y="3763267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256633" y="4620517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256633" y="3763267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3535" y="4620517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90569" y="3763267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90569" y="3334642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83535" y="4191892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90569" y="4620517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3" name="Google Shape;313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90569" y="4191892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256633" y="3334642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256633" y="4191892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3535" y="3334642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920287" y="2906017"/>
            <a:ext cx="1428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256633" y="3334642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3535" y="3334642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0" name="Google Shape;320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90569" y="3334642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1" name="Google Shape;321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256633" y="3763267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3535" y="3763267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90569" y="3763267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256633" y="4191892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83535" y="4191892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90569" y="4191892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256633" y="4620517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8" name="Google Shape;328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3535" y="4620517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9" name="Google Shape;329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90569" y="4620517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920287" y="4191892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920287" y="3763267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920287" y="4620517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3" name="Google Shape;333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920287" y="3334642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4" name="Google Shape;334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920287" y="3334642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920287" y="3763267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6" name="Google Shape;336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920287" y="4191892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7" name="Google Shape;337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920287" y="4620517"/>
            <a:ext cx="12382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0"/>
          <p:cNvSpPr txBox="1"/>
          <p:nvPr/>
        </p:nvSpPr>
        <p:spPr>
          <a:xfrm>
            <a:off x="857250" y="523875"/>
            <a:ext cx="11151393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Feature Curation Comparison</a:t>
            </a:r>
            <a:endParaRPr/>
          </a:p>
        </p:txBody>
      </p:sp>
      <p:sp>
        <p:nvSpPr>
          <p:cNvPr id="339" name="Google Shape;339;p20"/>
          <p:cNvSpPr/>
          <p:nvPr/>
        </p:nvSpPr>
        <p:spPr>
          <a:xfrm>
            <a:off x="714375" y="523875"/>
            <a:ext cx="47625" cy="409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4" name="Google Shape;34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5" name="Google Shape;34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" y="4095303"/>
            <a:ext cx="10763250" cy="605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6" name="Google Shape;34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" y="2528441"/>
            <a:ext cx="3460700" cy="1328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7" name="Google Shape;34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65575" y="2528441"/>
            <a:ext cx="3460700" cy="1328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8" name="Google Shape;348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16775" y="2528441"/>
            <a:ext cx="3460849" cy="1328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9" name="Google Shape;349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4375" y="6057900"/>
            <a:ext cx="107632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1"/>
          <p:cNvSpPr txBox="1"/>
          <p:nvPr/>
        </p:nvSpPr>
        <p:spPr>
          <a:xfrm>
            <a:off x="9696450" y="6210300"/>
            <a:ext cx="178117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Slide 9 of 10 • Platform Monetization</a:t>
            </a:r>
            <a:endParaRPr/>
          </a:p>
        </p:txBody>
      </p:sp>
      <p:sp>
        <p:nvSpPr>
          <p:cNvPr id="351" name="Google Shape;351;p21"/>
          <p:cNvSpPr txBox="1"/>
          <p:nvPr/>
        </p:nvSpPr>
        <p:spPr>
          <a:xfrm>
            <a:off x="914400" y="4295328"/>
            <a:ext cx="10363200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Value Proposition: Each user interaction compiles unique geographic, physical, and financial telemetry data, creating continuous monetization opportunities.</a:t>
            </a:r>
            <a:endParaRPr/>
          </a:p>
        </p:txBody>
      </p:sp>
      <p:pic>
        <p:nvPicPr>
          <p:cNvPr descr="image.png" id="352" name="Google Shape;352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4375" y="6219825"/>
            <a:ext cx="104775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1"/>
          <p:cNvSpPr txBox="1"/>
          <p:nvPr/>
        </p:nvSpPr>
        <p:spPr>
          <a:xfrm>
            <a:off x="1514475" y="6210300"/>
            <a:ext cx="10477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</a:t>
            </a:r>
            <a:endParaRPr/>
          </a:p>
        </p:txBody>
      </p:sp>
      <p:sp>
        <p:nvSpPr>
          <p:cNvPr id="354" name="Google Shape;354;p21"/>
          <p:cNvSpPr txBox="1"/>
          <p:nvPr/>
        </p:nvSpPr>
        <p:spPr>
          <a:xfrm>
            <a:off x="1171575" y="2766566"/>
            <a:ext cx="2903644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Verified Lead Fees</a:t>
            </a:r>
            <a:endParaRPr/>
          </a:p>
        </p:txBody>
      </p:sp>
      <p:sp>
        <p:nvSpPr>
          <p:cNvPr id="355" name="Google Shape;355;p21"/>
          <p:cNvSpPr txBox="1"/>
          <p:nvPr/>
        </p:nvSpPr>
        <p:spPr>
          <a:xfrm>
            <a:off x="952500" y="3061841"/>
            <a:ext cx="2984450" cy="557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Installers pay recurring platform subscription or single referral fees for pre-qualified customer leads with validated requirements.</a:t>
            </a:r>
            <a:endParaRPr/>
          </a:p>
        </p:txBody>
      </p:sp>
      <p:sp>
        <p:nvSpPr>
          <p:cNvPr id="356" name="Google Shape;356;p21"/>
          <p:cNvSpPr txBox="1"/>
          <p:nvPr/>
        </p:nvSpPr>
        <p:spPr>
          <a:xfrm>
            <a:off x="4860875" y="2766566"/>
            <a:ext cx="2863639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Vendor Commissions</a:t>
            </a:r>
            <a:endParaRPr/>
          </a:p>
        </p:txBody>
      </p:sp>
      <p:sp>
        <p:nvSpPr>
          <p:cNvPr id="357" name="Google Shape;357;p21"/>
          <p:cNvSpPr txBox="1"/>
          <p:nvPr/>
        </p:nvSpPr>
        <p:spPr>
          <a:xfrm>
            <a:off x="4603700" y="3061841"/>
            <a:ext cx="2984450" cy="557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Standardized success fees collected upon transaction settlement with certified installers on our registry.</a:t>
            </a:r>
            <a:endParaRPr/>
          </a:p>
        </p:txBody>
      </p:sp>
      <p:sp>
        <p:nvSpPr>
          <p:cNvPr id="358" name="Google Shape;358;p21"/>
          <p:cNvSpPr txBox="1"/>
          <p:nvPr/>
        </p:nvSpPr>
        <p:spPr>
          <a:xfrm>
            <a:off x="8493025" y="2766566"/>
            <a:ext cx="2883797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Enterprise API Licensing</a:t>
            </a:r>
            <a:endParaRPr/>
          </a:p>
        </p:txBody>
      </p:sp>
      <p:sp>
        <p:nvSpPr>
          <p:cNvPr id="359" name="Google Shape;359;p21"/>
          <p:cNvSpPr txBox="1"/>
          <p:nvPr/>
        </p:nvSpPr>
        <p:spPr>
          <a:xfrm>
            <a:off x="8254900" y="3061841"/>
            <a:ext cx="2984599" cy="557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White-labeled logic integrations for retail mortgage providers, green-financing channels, and real estate discovery portals.</a:t>
            </a:r>
            <a:endParaRPr/>
          </a:p>
        </p:txBody>
      </p:sp>
      <p:pic>
        <p:nvPicPr>
          <p:cNvPr descr="image.png" id="360" name="Google Shape;360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52500" y="2795141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1" name="Google Shape;361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603700" y="2795141"/>
            <a:ext cx="1809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2" name="Google Shape;362;p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254900" y="2795141"/>
            <a:ext cx="1619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21"/>
          <p:cNvSpPr txBox="1"/>
          <p:nvPr/>
        </p:nvSpPr>
        <p:spPr>
          <a:xfrm>
            <a:off x="857250" y="523875"/>
            <a:ext cx="11151393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Scalable Monetization Framework</a:t>
            </a:r>
            <a:endParaRPr/>
          </a:p>
        </p:txBody>
      </p:sp>
      <p:sp>
        <p:nvSpPr>
          <p:cNvPr id="364" name="Google Shape;364;p21"/>
          <p:cNvSpPr/>
          <p:nvPr/>
        </p:nvSpPr>
        <p:spPr>
          <a:xfrm>
            <a:off x="714375" y="523875"/>
            <a:ext cx="47625" cy="409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2"/>
          <p:cNvSpPr txBox="1"/>
          <p:nvPr/>
        </p:nvSpPr>
        <p:spPr>
          <a:xfrm>
            <a:off x="1613650" y="1274775"/>
            <a:ext cx="78585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 link : </a:t>
            </a:r>
            <a:r>
              <a:rPr lang="en-US" sz="2400" u="sng">
                <a:solidFill>
                  <a:schemeClr val="hlink"/>
                </a:solidFill>
                <a:hlinkClick r:id="rId3"/>
              </a:rPr>
              <a:t>krushnads25/SolarSense-AI</a:t>
            </a:r>
            <a:r>
              <a:rPr lang="en-US" sz="2400">
                <a:solidFill>
                  <a:schemeClr val="dk1"/>
                </a:solidFill>
              </a:rPr>
              <a:t>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