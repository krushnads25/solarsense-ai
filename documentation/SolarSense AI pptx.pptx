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Bitter Medium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itterMedium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BitterMedium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BitterMedium-bold.fntdata"/><Relationship Id="rId18" Type="http://schemas.openxmlformats.org/officeDocument/2006/relationships/font" Target="fonts/Bitter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4c3170bc2_2_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f4c3170bc2_2_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f4c3170bc2_2_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4c3170bc2_2_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f4c3170bc2_2_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f4c3170bc2_2_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4c3170bc2_2_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f4c3170bc2_2_5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f4c3170bc2_2_5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4c3170bc2_2_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4c3170bc2_2_7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4c3170bc2_2_7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4c3170bc2_2_1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f4c3170bc2_2_1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4c3170bc2_2_1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4c3170bc2_2_1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f4c3170bc2_2_1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4c3170bc2_2_1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4c3170bc2_2_1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f4c3170bc2_2_1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4c3170bc2_2_1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4c3170bc2_2_1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f4c3170bc2_2_1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4c3170bc2_2_1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4c3170bc2_0_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f4c3170bc2_0_3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f4c3170bc2_0_3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4c3170bc2_2_1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f4c3170bc2_2_18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f4c3170bc2_2_18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4c3170bc2_2_1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f4c3170bc2_2_1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f4c3170bc2_2_1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33.jp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21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0.jpg"/><Relationship Id="rId5" Type="http://schemas.openxmlformats.org/officeDocument/2006/relationships/image" Target="../media/image13.jpg"/><Relationship Id="rId6" Type="http://schemas.openxmlformats.org/officeDocument/2006/relationships/image" Target="../media/image31.jpg"/><Relationship Id="rId7" Type="http://schemas.openxmlformats.org/officeDocument/2006/relationships/image" Target="../media/image17.jpg"/><Relationship Id="rId8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Relationship Id="rId8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Relationship Id="rId5" Type="http://schemas.openxmlformats.org/officeDocument/2006/relationships/hyperlink" Target="https://github.com/krushnads25/SolarSense-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6"/>
          <p:cNvGrpSpPr/>
          <p:nvPr/>
        </p:nvGrpSpPr>
        <p:grpSpPr>
          <a:xfrm>
            <a:off x="452026" y="751422"/>
            <a:ext cx="3166947" cy="272100"/>
            <a:chOff x="496126" y="1068947"/>
            <a:chExt cx="3166947" cy="272100"/>
          </a:xfrm>
        </p:grpSpPr>
        <p:sp>
          <p:nvSpPr>
            <p:cNvPr id="62" name="Google Shape;62;p16"/>
            <p:cNvSpPr/>
            <p:nvPr/>
          </p:nvSpPr>
          <p:spPr>
            <a:xfrm>
              <a:off x="496126" y="1068947"/>
              <a:ext cx="2911800" cy="272100"/>
            </a:xfrm>
            <a:prstGeom prst="roundRect">
              <a:avLst>
                <a:gd fmla="val 22119" name="adj"/>
              </a:avLst>
            </a:prstGeom>
            <a:solidFill>
              <a:srgbClr val="FCE2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6"/>
            <p:cNvSpPr/>
            <p:nvPr/>
          </p:nvSpPr>
          <p:spPr>
            <a:xfrm>
              <a:off x="540225" y="1129750"/>
              <a:ext cx="167700" cy="141000"/>
            </a:xfrm>
            <a:prstGeom prst="rect">
              <a:avLst/>
            </a:prstGeom>
            <a:solidFill>
              <a:srgbClr val="2B2E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6"/>
            <p:cNvSpPr/>
            <p:nvPr/>
          </p:nvSpPr>
          <p:spPr>
            <a:xfrm>
              <a:off x="751274" y="1111452"/>
              <a:ext cx="29118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850"/>
                <a:buFont typeface="Open Sans"/>
                <a:buNone/>
              </a:pPr>
              <a:r>
                <a:rPr b="0" i="0" lang="en-GB" sz="1100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SDG 7 · AFFORDABLE &amp; CLEAN ENERGY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" name="Google Shape;65;p16"/>
          <p:cNvSpPr/>
          <p:nvPr/>
        </p:nvSpPr>
        <p:spPr>
          <a:xfrm>
            <a:off x="496119" y="1023516"/>
            <a:ext cx="8151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750"/>
              <a:buFont typeface="Bitter Medium"/>
              <a:buNone/>
            </a:pPr>
            <a:r>
              <a:rPr b="0" i="0" lang="en-GB" sz="27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SolarSense AI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496119" y="1536929"/>
            <a:ext cx="8609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00"/>
              <a:buFont typeface="Open Sans"/>
              <a:buNone/>
            </a:pPr>
            <a:r>
              <a:rPr b="0" i="0" lang="en-GB" sz="1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AI-Powered Rooftop Solar Advisory and Lead Generation Platform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496119" y="2418308"/>
            <a:ext cx="8151763" cy="19050"/>
          </a:xfrm>
          <a:prstGeom prst="roundRect">
            <a:avLst>
              <a:gd fmla="val 60000" name="adj"/>
            </a:avLst>
          </a:prstGeom>
          <a:solidFill>
            <a:srgbClr val="2B2E3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496119" y="410096"/>
            <a:ext cx="628799" cy="195114"/>
          </a:xfrm>
          <a:prstGeom prst="roundRect">
            <a:avLst>
              <a:gd fmla="val 22125" name="adj"/>
            </a:avLst>
          </a:prstGeom>
          <a:solidFill>
            <a:srgbClr val="FCE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"/>
          <p:cNvSpPr/>
          <p:nvPr/>
        </p:nvSpPr>
        <p:spPr>
          <a:xfrm>
            <a:off x="573137" y="448568"/>
            <a:ext cx="931962" cy="11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800"/>
              <a:buFont typeface="Open Sans"/>
              <a:buNone/>
            </a:pPr>
            <a:r>
              <a:rPr b="0" i="0" lang="en-GB" sz="8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PROBLEM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496119" y="651718"/>
            <a:ext cx="8151763" cy="40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500"/>
              <a:buFont typeface="Bitter Medium"/>
              <a:buNone/>
            </a:pPr>
            <a:r>
              <a:rPr b="0" i="0" lang="en-GB" sz="25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Rooftop Solar Adoption is Still Complicated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496119" y="1227758"/>
            <a:ext cx="8608963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00"/>
              <a:buFont typeface="Open Sans"/>
              <a:buNone/>
            </a:pPr>
            <a:r>
              <a:rPr b="0" i="0" lang="en-GB" sz="10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Despite growing awareness, the path from interest to installation remains fragmented and opaque for most homeowners.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496119" y="1554659"/>
            <a:ext cx="1950616" cy="1521321"/>
          </a:xfrm>
          <a:prstGeom prst="roundRect">
            <a:avLst>
              <a:gd fmla="val 3547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629320" y="1687860"/>
            <a:ext cx="1684213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250"/>
              <a:buFont typeface="Bitter Medium"/>
              <a:buNone/>
            </a:pPr>
            <a:r>
              <a:rPr b="0" i="0" lang="en-GB" sz="12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Knowledge Gap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629320" y="1958355"/>
            <a:ext cx="1684213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00"/>
              <a:buFont typeface="Open Sans"/>
              <a:buNone/>
            </a:pPr>
            <a:r>
              <a:rPr b="0" i="0" lang="en-GB" sz="10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Most homeowners lack technical knowledge about rooftop solar systems and components.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563118" y="1554659"/>
            <a:ext cx="1950690" cy="1521321"/>
          </a:xfrm>
          <a:prstGeom prst="roundRect">
            <a:avLst>
              <a:gd fmla="val 3547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2696319" y="1687860"/>
            <a:ext cx="1684288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250"/>
              <a:buFont typeface="Bitter Medium"/>
              <a:buNone/>
            </a:pPr>
            <a:r>
              <a:rPr b="0" i="0" lang="en-GB" sz="12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Sizing Uncertainty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2696319" y="1958355"/>
            <a:ext cx="1684288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00"/>
              <a:buFont typeface="Open Sans"/>
              <a:buNone/>
            </a:pPr>
            <a:r>
              <a:rPr b="0" i="0" lang="en-GB" sz="10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Customers do not know how much solar capacity they actually need for their home.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4630192" y="1554659"/>
            <a:ext cx="1950616" cy="1521321"/>
          </a:xfrm>
          <a:prstGeom prst="roundRect">
            <a:avLst>
              <a:gd fmla="val 3547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4763393" y="1687860"/>
            <a:ext cx="1684213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250"/>
              <a:buFont typeface="Bitter Medium"/>
              <a:buNone/>
            </a:pPr>
            <a:r>
              <a:rPr b="0" i="0" lang="en-GB" sz="12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Unrealistic Tools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763393" y="1958355"/>
            <a:ext cx="1684213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00"/>
              <a:buFont typeface="Open Sans"/>
              <a:buNone/>
            </a:pPr>
            <a:r>
              <a:rPr b="0" i="0" lang="en-GB" sz="10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Existing calculators ignore roof limitations and often provide impractical recommendations.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6697191" y="1554659"/>
            <a:ext cx="1950690" cy="1521321"/>
          </a:xfrm>
          <a:prstGeom prst="roundRect">
            <a:avLst>
              <a:gd fmla="val 3547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6830392" y="1687860"/>
            <a:ext cx="1684288" cy="401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250"/>
              <a:buFont typeface="Bitter Medium"/>
              <a:buNone/>
            </a:pPr>
            <a:r>
              <a:rPr b="0" i="0" lang="en-GB" sz="12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Multiple Consultations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6830392" y="2159050"/>
            <a:ext cx="1684288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00"/>
              <a:buFont typeface="Open Sans"/>
              <a:buNone/>
            </a:pPr>
            <a:r>
              <a:rPr b="0" i="0" lang="en-GB" sz="10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Obtaining quotations requires several site visits and consultations with different vendors.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96119" y="3192363"/>
            <a:ext cx="4017690" cy="928762"/>
          </a:xfrm>
          <a:prstGeom prst="roundRect">
            <a:avLst>
              <a:gd fmla="val 5810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629320" y="3325564"/>
            <a:ext cx="3751287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250"/>
              <a:buFont typeface="Bitter Medium"/>
              <a:buNone/>
            </a:pPr>
            <a:r>
              <a:rPr b="0" i="0" lang="en-GB" sz="12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Financial Opacity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629320" y="3596060"/>
            <a:ext cx="3751287" cy="391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00"/>
              <a:buFont typeface="Open Sans"/>
              <a:buNone/>
            </a:pPr>
            <a:r>
              <a:rPr b="0" i="0" lang="en-GB" sz="10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Customers struggle to estimate installation cost, savings and return on investment.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630192" y="3192363"/>
            <a:ext cx="4017690" cy="928762"/>
          </a:xfrm>
          <a:prstGeom prst="roundRect">
            <a:avLst>
              <a:gd fmla="val 5810" name="adj"/>
            </a:avLst>
          </a:prstGeom>
          <a:solidFill>
            <a:srgbClr val="FCE2CF"/>
          </a:solidFill>
          <a:ln cap="flat" cmpd="sng" w="9525">
            <a:solidFill>
              <a:srgbClr val="E2C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4763393" y="3325564"/>
            <a:ext cx="3751287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250"/>
              <a:buFont typeface="Bitter Medium"/>
              <a:buNone/>
            </a:pPr>
            <a:r>
              <a:rPr b="0" i="0" lang="en-GB" sz="12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Trust Deficit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4763393" y="3596060"/>
            <a:ext cx="3751287" cy="391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00"/>
              <a:buFont typeface="Open Sans"/>
              <a:buNone/>
            </a:pPr>
            <a:r>
              <a:rPr b="0" i="0" lang="en-GB" sz="10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Finding trusted, verified solar installers remains a significant challenge.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96119" y="4252094"/>
            <a:ext cx="8151763" cy="481236"/>
          </a:xfrm>
          <a:prstGeom prst="roundRect">
            <a:avLst>
              <a:gd fmla="val 11213" name="adj"/>
            </a:avLst>
          </a:prstGeom>
          <a:solidFill>
            <a:srgbClr val="FCE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557" y="4433515"/>
            <a:ext cx="160586" cy="12843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/>
          <p:nvPr/>
        </p:nvSpPr>
        <p:spPr>
          <a:xfrm>
            <a:off x="913581" y="4400550"/>
            <a:ext cx="8063061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Open Sans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uncertainty slows the adoption of clean energy.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496119" y="414710"/>
            <a:ext cx="923851" cy="141387"/>
          </a:xfrm>
          <a:prstGeom prst="roundRect">
            <a:avLst>
              <a:gd fmla="val 22109" name="adj"/>
            </a:avLst>
          </a:prstGeom>
          <a:solidFill>
            <a:srgbClr val="FCE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551929" y="442615"/>
            <a:ext cx="1269429" cy="85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550"/>
              <a:buFont typeface="Open Sans"/>
              <a:buNone/>
            </a:pPr>
            <a:r>
              <a:rPr b="0" i="0" lang="en-GB" sz="5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MARKET OPPORTUNITY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496119" y="580504"/>
            <a:ext cx="8151763" cy="290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1800"/>
              <a:buFont typeface="Bitter Medium"/>
              <a:buNone/>
            </a:pPr>
            <a:r>
              <a:rPr b="0" i="0" lang="en-GB" sz="18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A Growing Market Needs Intelligent Automation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496119" y="1017687"/>
            <a:ext cx="3962400" cy="1150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00"/>
              <a:buFont typeface="Open Sans"/>
              <a:buNone/>
            </a:pPr>
            <a:r>
              <a:rPr b="0" i="0" lang="en-GB" sz="7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India's renewable energy sector is growing rapidly, driven by ambitious national targets and increasing environmental awareness.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B2E3C"/>
              </a:buClr>
              <a:buSzPts val="700"/>
              <a:buFont typeface="Open Sans"/>
              <a:buNone/>
            </a:pPr>
            <a:r>
              <a:rPr b="0" i="0" lang="en-GB" sz="7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Rooftop solar adoption is expected to increase significantly in the coming years as technology costs decline and policies mature.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B2E3C"/>
              </a:buClr>
              <a:buSzPts val="700"/>
              <a:buFont typeface="Open Sans"/>
              <a:buNone/>
            </a:pPr>
            <a:r>
              <a:rPr b="0" i="0" lang="en-GB" sz="7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Millions of residential customers require personalised solar guidance tailored to their unique consumption and roof profiles.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2B2E3C"/>
              </a:buClr>
              <a:buSzPts val="700"/>
              <a:buFont typeface="Open Sans"/>
              <a:buNone/>
            </a:pPr>
            <a:r>
              <a:rPr b="0" i="0" lang="en-GB" sz="7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Solar companies spend considerable effort and capital acquiring qualified customer leads, creating a clear B2B opportunity.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623271" y="962769"/>
            <a:ext cx="4096345" cy="3411662"/>
          </a:xfrm>
          <a:prstGeom prst="roundRect">
            <a:avLst>
              <a:gd fmla="val 1963" name="adj"/>
            </a:avLst>
          </a:prstGeom>
          <a:solidFill>
            <a:srgbClr val="FBE2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289" y="1031453"/>
            <a:ext cx="232544" cy="23254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4716289" y="1340272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Rapid Sector Growth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716289" y="1546622"/>
            <a:ext cx="3910310" cy="12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00"/>
              <a:buFont typeface="Open Sans"/>
              <a:buNone/>
            </a:pPr>
            <a:r>
              <a:rPr b="0" i="0" lang="en-GB" sz="7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India's renewable energy sector is expanding at pace.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6289" y="1791891"/>
            <a:ext cx="232544" cy="23254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/>
          <p:nvPr/>
        </p:nvSpPr>
        <p:spPr>
          <a:xfrm>
            <a:off x="4716289" y="2024435"/>
            <a:ext cx="3910310" cy="12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6289" y="2146474"/>
            <a:ext cx="232544" cy="23254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/>
          <p:nvPr/>
        </p:nvSpPr>
        <p:spPr>
          <a:xfrm>
            <a:off x="4716289" y="2455292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Rooftop Surge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716289" y="2661642"/>
            <a:ext cx="3910310" cy="12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00"/>
              <a:buFont typeface="Open Sans"/>
              <a:buNone/>
            </a:pPr>
            <a:r>
              <a:rPr b="0" i="0" lang="en-GB" sz="7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Rooftop solar adoption is expected to rise significantly.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6289" y="2906911"/>
            <a:ext cx="232544" cy="2325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4716289" y="3215729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Mass Market Need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4716289" y="3422079"/>
            <a:ext cx="3910310" cy="12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00"/>
              <a:buFont typeface="Open Sans"/>
              <a:buNone/>
            </a:pPr>
            <a:r>
              <a:rPr b="0" i="0" lang="en-GB" sz="7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Millions of residential customers need personalised guidance.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6289" y="3667348"/>
            <a:ext cx="232544" cy="23254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/>
          <p:nvPr/>
        </p:nvSpPr>
        <p:spPr>
          <a:xfrm>
            <a:off x="4716289" y="3976167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Lead Acquisition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4716289" y="4182517"/>
            <a:ext cx="3910310" cy="12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00"/>
              <a:buFont typeface="Open Sans"/>
              <a:buNone/>
            </a:pPr>
            <a:r>
              <a:rPr b="0" i="0" lang="en-GB" sz="7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Solar companies spend heavily to acquire qualified leads.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496119" y="4443115"/>
            <a:ext cx="8151763" cy="285601"/>
          </a:xfrm>
          <a:prstGeom prst="roundRect">
            <a:avLst>
              <a:gd fmla="val 13682" name="adj"/>
            </a:avLst>
          </a:prstGeom>
          <a:solidFill>
            <a:srgbClr val="FCE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136" y="4563666"/>
            <a:ext cx="116235" cy="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/>
          <p:nvPr/>
        </p:nvSpPr>
        <p:spPr>
          <a:xfrm>
            <a:off x="798388" y="4527352"/>
            <a:ext cx="8213675" cy="123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Open Sans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market requires an intelligent and automated advisory solution.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8" title="image2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8400" y="2168277"/>
            <a:ext cx="3284053" cy="1970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496119" y="397594"/>
            <a:ext cx="490612" cy="144735"/>
          </a:xfrm>
          <a:prstGeom prst="roundRect">
            <a:avLst>
              <a:gd fmla="val 22112" name="adj"/>
            </a:avLst>
          </a:prstGeom>
          <a:solidFill>
            <a:srgbClr val="FCE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553269" y="426169"/>
            <a:ext cx="833512" cy="87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600"/>
              <a:buFont typeface="Open Sans"/>
              <a:buNone/>
            </a:pPr>
            <a:r>
              <a:rPr b="0" i="0" lang="en-GB" sz="6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SOLUTION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496119" y="567928"/>
            <a:ext cx="8151763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1850"/>
              <a:buFont typeface="Bitter Medium"/>
              <a:buNone/>
            </a:pPr>
            <a:r>
              <a:rPr b="0" i="0" lang="en-GB" sz="18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Introducing SolarSense AI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496119" y="961579"/>
            <a:ext cx="86091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An AI-powered platform that simplifies rooftop solar adoption by delivering instant, personalised and actionable guidance directly to homeowners.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719" y="1184984"/>
            <a:ext cx="1977926" cy="12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/>
          <p:nvPr/>
        </p:nvSpPr>
        <p:spPr>
          <a:xfrm>
            <a:off x="674719" y="2471380"/>
            <a:ext cx="1977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Consumption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674719" y="2658605"/>
            <a:ext cx="19779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Analyzes customer electricity consumption patterns.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19"/>
          <p:cNvGrpSpPr/>
          <p:nvPr/>
        </p:nvGrpSpPr>
        <p:grpSpPr>
          <a:xfrm>
            <a:off x="3583027" y="1188997"/>
            <a:ext cx="1977926" cy="1728415"/>
            <a:chOff x="2554039" y="1160934"/>
            <a:chExt cx="1977926" cy="1728415"/>
          </a:xfrm>
        </p:grpSpPr>
        <p:pic>
          <p:nvPicPr>
            <p:cNvPr descr="preencoded.png" id="139" name="Google Shape;139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54039" y="1160934"/>
              <a:ext cx="1977926" cy="122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19"/>
            <p:cNvSpPr/>
            <p:nvPr/>
          </p:nvSpPr>
          <p:spPr>
            <a:xfrm>
              <a:off x="2554039" y="2447330"/>
              <a:ext cx="1977926" cy="148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900"/>
                <a:buFont typeface="Bitter Medium"/>
                <a:buNone/>
              </a:pPr>
              <a:r>
                <a:rPr b="0" i="0" lang="en-GB" sz="900" u="none" cap="none" strike="noStrike">
                  <a:solidFill>
                    <a:srgbClr val="2B2E3C"/>
                  </a:solidFill>
                  <a:latin typeface="Bitter Medium"/>
                  <a:ea typeface="Bitter Medium"/>
                  <a:cs typeface="Bitter Medium"/>
                  <a:sym typeface="Bitter Medium"/>
                </a:rPr>
                <a:t>Roof Feasibility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2554039" y="2634555"/>
              <a:ext cx="1977926" cy="2547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750"/>
                <a:buFont typeface="Open Sans"/>
                <a:buNone/>
              </a:pPr>
              <a:r>
                <a:rPr b="0" i="0" lang="en-GB" sz="750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Evaluates roof feasibility and structural constraints.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9"/>
          <p:cNvGrpSpPr/>
          <p:nvPr/>
        </p:nvGrpSpPr>
        <p:grpSpPr>
          <a:xfrm>
            <a:off x="6342485" y="1188997"/>
            <a:ext cx="1977926" cy="1728415"/>
            <a:chOff x="4611960" y="1160934"/>
            <a:chExt cx="1977926" cy="1728415"/>
          </a:xfrm>
        </p:grpSpPr>
        <p:pic>
          <p:nvPicPr>
            <p:cNvPr descr="preencoded.png" id="143" name="Google Shape;143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11960" y="1160934"/>
              <a:ext cx="1977926" cy="122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19"/>
            <p:cNvSpPr/>
            <p:nvPr/>
          </p:nvSpPr>
          <p:spPr>
            <a:xfrm>
              <a:off x="4611960" y="2447330"/>
              <a:ext cx="1977926" cy="148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900"/>
                <a:buFont typeface="Bitter Medium"/>
                <a:buNone/>
              </a:pPr>
              <a:r>
                <a:rPr b="0" i="0" lang="en-GB" sz="900" u="none" cap="none" strike="noStrike">
                  <a:solidFill>
                    <a:srgbClr val="2B2E3C"/>
                  </a:solidFill>
                  <a:latin typeface="Bitter Medium"/>
                  <a:ea typeface="Bitter Medium"/>
                  <a:cs typeface="Bitter Medium"/>
                  <a:sym typeface="Bitter Medium"/>
                </a:rPr>
                <a:t>Optimal Sizing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4611960" y="2634555"/>
              <a:ext cx="1977926" cy="2547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750"/>
                <a:buFont typeface="Open Sans"/>
                <a:buNone/>
              </a:pPr>
              <a:r>
                <a:rPr b="0" i="0" lang="en-GB" sz="750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Calculates optimal solar system size for the household.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19"/>
          <p:cNvGrpSpPr/>
          <p:nvPr/>
        </p:nvGrpSpPr>
        <p:grpSpPr>
          <a:xfrm>
            <a:off x="6342431" y="3017434"/>
            <a:ext cx="1978025" cy="1732465"/>
            <a:chOff x="6669856" y="1156959"/>
            <a:chExt cx="1978025" cy="1732465"/>
          </a:xfrm>
        </p:grpSpPr>
        <p:pic>
          <p:nvPicPr>
            <p:cNvPr descr="preencoded.png" id="147" name="Google Shape;147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69856" y="1156959"/>
              <a:ext cx="1978001" cy="12224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9"/>
            <p:cNvSpPr/>
            <p:nvPr/>
          </p:nvSpPr>
          <p:spPr>
            <a:xfrm>
              <a:off x="6669881" y="2447404"/>
              <a:ext cx="1978000" cy="148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900"/>
                <a:buFont typeface="Bitter Medium"/>
                <a:buNone/>
              </a:pPr>
              <a:r>
                <a:rPr b="0" i="0" lang="en-GB" sz="900" u="none" cap="none" strike="noStrike">
                  <a:solidFill>
                    <a:srgbClr val="2B2E3C"/>
                  </a:solidFill>
                  <a:latin typeface="Bitter Medium"/>
                  <a:ea typeface="Bitter Medium"/>
                  <a:cs typeface="Bitter Medium"/>
                  <a:sym typeface="Bitter Medium"/>
                </a:rPr>
                <a:t>Cost &amp; Savings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6669881" y="2634630"/>
              <a:ext cx="1978000" cy="2547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750"/>
                <a:buFont typeface="Open Sans"/>
                <a:buNone/>
              </a:pPr>
              <a:r>
                <a:rPr b="0" i="0" lang="en-GB" sz="750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Estimates installation cost, savings and return on investment.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reencoded.png" id="150" name="Google Shape;15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4719" y="3041466"/>
            <a:ext cx="1977926" cy="12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674719" y="4327862"/>
            <a:ext cx="1977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Installer Matching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74719" y="4515088"/>
            <a:ext cx="19779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Recommends trusted and verified solar installers.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19"/>
          <p:cNvGrpSpPr/>
          <p:nvPr/>
        </p:nvGrpSpPr>
        <p:grpSpPr>
          <a:xfrm>
            <a:off x="3583014" y="3017416"/>
            <a:ext cx="1977926" cy="1728416"/>
            <a:chOff x="2554039" y="3017416"/>
            <a:chExt cx="1977926" cy="1728416"/>
          </a:xfrm>
        </p:grpSpPr>
        <p:pic>
          <p:nvPicPr>
            <p:cNvPr descr="preencoded.png" id="154" name="Google Shape;154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54039" y="3017416"/>
              <a:ext cx="1977926" cy="122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9"/>
            <p:cNvSpPr/>
            <p:nvPr/>
          </p:nvSpPr>
          <p:spPr>
            <a:xfrm>
              <a:off x="2554039" y="4303812"/>
              <a:ext cx="1977926" cy="148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900"/>
                <a:buFont typeface="Bitter Medium"/>
                <a:buNone/>
              </a:pPr>
              <a:r>
                <a:rPr b="0" i="0" lang="en-GB" sz="900" u="none" cap="none" strike="noStrike">
                  <a:solidFill>
                    <a:srgbClr val="2B2E3C"/>
                  </a:solidFill>
                  <a:latin typeface="Bitter Medium"/>
                  <a:ea typeface="Bitter Medium"/>
                  <a:cs typeface="Bitter Medium"/>
                  <a:sym typeface="Bitter Medium"/>
                </a:rPr>
                <a:t>Report Delivery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2554039" y="4491038"/>
              <a:ext cx="1977926" cy="2547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2E3C"/>
                </a:buClr>
                <a:buSzPts val="750"/>
                <a:buFont typeface="Open Sans"/>
                <a:buNone/>
              </a:pPr>
              <a:r>
                <a:rPr b="0" i="0" lang="en-GB" sz="750" u="none" cap="none" strike="noStrike">
                  <a:solidFill>
                    <a:srgbClr val="2B2E3C"/>
                  </a:solidFill>
                  <a:latin typeface="Open Sans"/>
                  <a:ea typeface="Open Sans"/>
                  <a:cs typeface="Open Sans"/>
                  <a:sym typeface="Open Sans"/>
                </a:rPr>
                <a:t>Generates professional PDF reports and delivers via email.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/>
        </p:nvSpPr>
        <p:spPr>
          <a:xfrm>
            <a:off x="496119" y="404813"/>
            <a:ext cx="749126" cy="198462"/>
          </a:xfrm>
          <a:prstGeom prst="roundRect">
            <a:avLst>
              <a:gd fmla="val 22126" name="adj"/>
            </a:avLst>
          </a:prstGeom>
          <a:solidFill>
            <a:srgbClr val="FCE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574477" y="443954"/>
            <a:ext cx="1049610" cy="120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800"/>
              <a:buFont typeface="Open Sans"/>
              <a:buNone/>
            </a:pPr>
            <a:r>
              <a:rPr b="0" i="0" lang="en-GB" sz="8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WORKFLOW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96119" y="651421"/>
            <a:ext cx="8151763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550"/>
              <a:buFont typeface="Bitter Medium"/>
              <a:buNone/>
            </a:pPr>
            <a:r>
              <a:rPr b="0" i="0" lang="en-GB" sz="25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How SolarSense AI Works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641" y="1240482"/>
            <a:ext cx="7890644" cy="296093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/>
          <p:nvPr/>
        </p:nvSpPr>
        <p:spPr>
          <a:xfrm>
            <a:off x="7002209" y="3482623"/>
            <a:ext cx="1190147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00"/>
              <a:buFont typeface="Bitter Medium"/>
              <a:buNone/>
            </a:pPr>
            <a:r>
              <a:rPr b="0" i="0" lang="en-GB" sz="14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Lead Storage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502299" y="3482623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00"/>
              <a:buFont typeface="Bitter Medium"/>
              <a:buNone/>
            </a:pPr>
            <a:r>
              <a:rPr b="0" i="0" lang="en-GB" sz="14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Financials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4010540" y="3482623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00"/>
              <a:buFont typeface="Bitter Medium"/>
              <a:buNone/>
            </a:pPr>
            <a:r>
              <a:rPr b="0" i="0" lang="en-GB" sz="14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Roof Check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2518781" y="3482623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00"/>
              <a:buFont typeface="Bitter Medium"/>
              <a:buNone/>
            </a:pPr>
            <a:r>
              <a:rPr b="0" i="0" lang="en-GB" sz="14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AI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994415" y="3367990"/>
            <a:ext cx="1190146" cy="4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400"/>
              <a:buFont typeface="Bitter Medium"/>
              <a:buNone/>
            </a:pPr>
            <a:r>
              <a:rPr b="0" i="0" lang="en-GB" sz="14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Customer Input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96119" y="4336926"/>
            <a:ext cx="8151763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00"/>
              <a:buFont typeface="Open Sans"/>
              <a:buNone/>
            </a:pPr>
            <a:r>
              <a:rPr b="0" i="0" lang="en-GB" sz="10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From customer input to delivered report, the entire workflow is fully automated — eliminating manual intervention and reducing advisory time from days to seconds.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/>
        </p:nvSpPr>
        <p:spPr>
          <a:xfrm>
            <a:off x="496119" y="523056"/>
            <a:ext cx="866477" cy="191839"/>
          </a:xfrm>
          <a:prstGeom prst="roundRect">
            <a:avLst>
              <a:gd fmla="val 22114" name="adj"/>
            </a:avLst>
          </a:prstGeom>
          <a:solidFill>
            <a:srgbClr val="FCE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571872" y="560933"/>
            <a:ext cx="117217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ARCHITECTURE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496119" y="759842"/>
            <a:ext cx="8151763" cy="394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450"/>
              <a:buFont typeface="Bitter Medium"/>
              <a:buNone/>
            </a:pPr>
            <a:r>
              <a:rPr b="0" i="0" lang="en-GB" sz="24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Technology Architecture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852464"/>
            <a:ext cx="5190753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/>
          <p:nvPr/>
        </p:nvSpPr>
        <p:spPr>
          <a:xfrm>
            <a:off x="845400" y="3666359"/>
            <a:ext cx="1177608" cy="147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Bitter Medium"/>
                <a:ea typeface="Bitter Medium"/>
                <a:cs typeface="Bitter Medium"/>
                <a:sym typeface="Bitter Medium"/>
              </a:rPr>
              <a:t>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845400" y="3148211"/>
            <a:ext cx="1177608" cy="147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Bitter Medium"/>
                <a:ea typeface="Bitter Medium"/>
                <a:cs typeface="Bitter Medium"/>
                <a:sym typeface="Bitter Medium"/>
              </a:rPr>
              <a:t>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845400" y="2635298"/>
            <a:ext cx="1177608" cy="147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Bitter Medium"/>
                <a:ea typeface="Bitter Medium"/>
                <a:cs typeface="Bitter Medium"/>
                <a:sym typeface="Bitter Medium"/>
              </a:rPr>
              <a:t>Workflow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845400" y="2117150"/>
            <a:ext cx="1177608" cy="147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Bitter Medium"/>
                <a:ea typeface="Bitter Medium"/>
                <a:cs typeface="Bitter Medium"/>
                <a:sym typeface="Bitter Medium"/>
              </a:rPr>
              <a:t>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5999708" y="1435447"/>
            <a:ext cx="2652861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1200"/>
              <a:buFont typeface="Bitter Medium"/>
              <a:buNone/>
            </a:pPr>
            <a:r>
              <a:rPr b="0" i="0" lang="en-GB" sz="12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Technology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999708" y="1745159"/>
            <a:ext cx="2652861" cy="283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b="1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HTML</a:t>
            </a:r>
            <a:r>
              <a:rPr b="0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— Markup structure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b="1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CSS</a:t>
            </a:r>
            <a:r>
              <a:rPr b="0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— Styling and layout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b="1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JavaScript</a:t>
            </a:r>
            <a:r>
              <a:rPr b="0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— Client-side logic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b="1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n8n</a:t>
            </a:r>
            <a:r>
              <a:rPr b="0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— Workflow automation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b="1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Google Gemini</a:t>
            </a:r>
            <a:r>
              <a:rPr b="0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— AI analysis and reasoning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b="1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PDFMonkey</a:t>
            </a:r>
            <a:r>
              <a:rPr b="0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— Automated report generation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b="1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Gmail API</a:t>
            </a:r>
            <a:r>
              <a:rPr b="0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— Email delivery integration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b="1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Google Sheets</a:t>
            </a:r>
            <a:r>
              <a:rPr b="0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— Lead database storage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b="1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Netlify</a:t>
            </a:r>
            <a:r>
              <a:rPr b="0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— Frontend hosting and deployment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Open Sans"/>
              <a:buChar char="•"/>
            </a:pPr>
            <a:r>
              <a:rPr b="1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Railway</a:t>
            </a:r>
            <a:r>
              <a:rPr b="0" i="0" lang="en-GB" sz="9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 — Backend workflow hosting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/>
          <p:nvPr/>
        </p:nvSpPr>
        <p:spPr>
          <a:xfrm>
            <a:off x="496119" y="390004"/>
            <a:ext cx="670471" cy="205234"/>
          </a:xfrm>
          <a:prstGeom prst="roundRect">
            <a:avLst>
              <a:gd fmla="val 22122" name="adj"/>
            </a:avLst>
          </a:prstGeom>
          <a:solidFill>
            <a:srgbClr val="FCE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577155" y="430485"/>
            <a:ext cx="965597" cy="124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850"/>
              <a:buFont typeface="Open Sans"/>
              <a:buNone/>
            </a:pPr>
            <a:r>
              <a:rPr b="0" i="0" lang="en-GB" sz="8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FEATURES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496119" y="646733"/>
            <a:ext cx="8151763" cy="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650"/>
              <a:buFont typeface="Bitter Medium"/>
              <a:buNone/>
            </a:pPr>
            <a:r>
              <a:rPr b="0" i="0" lang="en-GB" sz="26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Core Features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262211"/>
            <a:ext cx="337765" cy="33776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/>
          <p:nvPr/>
        </p:nvSpPr>
        <p:spPr>
          <a:xfrm>
            <a:off x="994842" y="1262211"/>
            <a:ext cx="2111201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300"/>
              <a:buFont typeface="Bitter Medium"/>
              <a:buNone/>
            </a:pPr>
            <a:r>
              <a:rPr b="0" i="0" lang="en-GB" sz="13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AI-based Solar Sizing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994842" y="1550566"/>
            <a:ext cx="2111201" cy="63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50"/>
              <a:buFont typeface="Open Sans"/>
              <a:buNone/>
            </a:pPr>
            <a:r>
              <a:rPr b="0" i="0" lang="en-GB" sz="10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Intelligent system sizing based on consumption patterns and roof constraints.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7001" y="1262211"/>
            <a:ext cx="337765" cy="33776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/>
          <p:nvPr/>
        </p:nvSpPr>
        <p:spPr>
          <a:xfrm>
            <a:off x="3765724" y="1262211"/>
            <a:ext cx="2111201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300"/>
              <a:buFont typeface="Bitter Medium"/>
              <a:buNone/>
            </a:pPr>
            <a:r>
              <a:rPr b="0" i="0" lang="en-GB" sz="13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Roof Feasibility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3765724" y="1550566"/>
            <a:ext cx="2111201" cy="63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50"/>
              <a:buFont typeface="Open Sans"/>
              <a:buNone/>
            </a:pPr>
            <a:r>
              <a:rPr b="0" i="0" lang="en-GB" sz="10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Evaluates roof parameters to determine practical installation viability.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7883" y="1262211"/>
            <a:ext cx="337765" cy="33776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/>
          <p:nvPr/>
        </p:nvSpPr>
        <p:spPr>
          <a:xfrm>
            <a:off x="6536606" y="1262211"/>
            <a:ext cx="211127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300"/>
              <a:buFont typeface="Bitter Medium"/>
              <a:buNone/>
            </a:pPr>
            <a:r>
              <a:rPr b="0" i="0" lang="en-GB" sz="13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ROI &amp; Savings Calculation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6536606" y="1550566"/>
            <a:ext cx="2111276" cy="63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50"/>
              <a:buFont typeface="Open Sans"/>
              <a:buNone/>
            </a:pPr>
            <a:r>
              <a:rPr b="0" i="0" lang="en-GB" sz="10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Projects installation costs, long-term savings and payback periods.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441451"/>
            <a:ext cx="337765" cy="33776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/>
          <p:nvPr/>
        </p:nvSpPr>
        <p:spPr>
          <a:xfrm>
            <a:off x="994842" y="2441451"/>
            <a:ext cx="2111201" cy="42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300"/>
              <a:buFont typeface="Bitter Medium"/>
              <a:buNone/>
            </a:pPr>
            <a:r>
              <a:rPr b="0" i="0" lang="en-GB" sz="13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Installer Recommendations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994842" y="2940918"/>
            <a:ext cx="2111201" cy="63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50"/>
              <a:buFont typeface="Open Sans"/>
              <a:buNone/>
            </a:pPr>
            <a:r>
              <a:rPr b="0" i="0" lang="en-GB" sz="10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Connects customers with trusted, verified solar installation partners.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67001" y="2441451"/>
            <a:ext cx="337765" cy="33776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/>
          <p:nvPr/>
        </p:nvSpPr>
        <p:spPr>
          <a:xfrm>
            <a:off x="3765724" y="2441451"/>
            <a:ext cx="2111201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300"/>
              <a:buFont typeface="Bitter Medium"/>
              <a:buNone/>
            </a:pPr>
            <a:r>
              <a:rPr b="0" i="0" lang="en-GB" sz="13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Automated PDF Reports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3765724" y="2729805"/>
            <a:ext cx="2111201" cy="63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50"/>
              <a:buFont typeface="Open Sans"/>
              <a:buNone/>
            </a:pPr>
            <a:r>
              <a:rPr b="0" i="0" lang="en-GB" sz="10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Generates professional, personalised advisory reports automatically.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7883" y="2441451"/>
            <a:ext cx="337765" cy="33776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6536606" y="2441451"/>
            <a:ext cx="211127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300"/>
              <a:buFont typeface="Bitter Medium"/>
              <a:buNone/>
            </a:pPr>
            <a:r>
              <a:rPr b="0" i="0" lang="en-GB" sz="13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Email Delivery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6536606" y="2729805"/>
            <a:ext cx="2111276" cy="42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50"/>
              <a:buFont typeface="Open Sans"/>
              <a:buNone/>
            </a:pPr>
            <a:r>
              <a:rPr b="0" i="0" lang="en-GB" sz="10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Delivers reports directly to customers via Gmail integration.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6119" y="3831803"/>
            <a:ext cx="337765" cy="33776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994842" y="3831803"/>
            <a:ext cx="2111201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300"/>
              <a:buFont typeface="Bitter Medium"/>
              <a:buNone/>
            </a:pPr>
            <a:r>
              <a:rPr b="0" i="0" lang="en-GB" sz="13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Lead Management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994842" y="4120158"/>
            <a:ext cx="2111201" cy="63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050"/>
              <a:buFont typeface="Open Sans"/>
              <a:buNone/>
            </a:pPr>
            <a:r>
              <a:rPr b="0" i="0" lang="en-GB" sz="10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Stores and organises customer leads in Google Sheets for follow-up.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/>
          <p:nvPr/>
        </p:nvSpPr>
        <p:spPr>
          <a:xfrm>
            <a:off x="496119" y="397594"/>
            <a:ext cx="755972" cy="144735"/>
          </a:xfrm>
          <a:prstGeom prst="roundRect">
            <a:avLst>
              <a:gd fmla="val 22112" name="adj"/>
            </a:avLst>
          </a:prstGeom>
          <a:solidFill>
            <a:srgbClr val="FCE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553269" y="426169"/>
            <a:ext cx="1098872" cy="87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600"/>
              <a:buFont typeface="Open Sans"/>
              <a:buNone/>
            </a:pPr>
            <a:r>
              <a:rPr b="0" i="0" lang="en-GB" sz="6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DEMONSTRATION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496119" y="567928"/>
            <a:ext cx="8151763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1850"/>
              <a:buFont typeface="Bitter Medium"/>
              <a:buNone/>
            </a:pPr>
            <a:r>
              <a:rPr b="0" i="0" lang="en-GB" sz="18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Live Product Output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496119" y="961579"/>
            <a:ext cx="860896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The following screenshots demonstrate the end-to-end customer journey — from initial input through AI analysis to final report delivery and lead capture.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1652144" y="3737168"/>
            <a:ext cx="1977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Customer Input 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1652144" y="3924393"/>
            <a:ext cx="19779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Homeowners enter consumption and roof details.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550839" y="3678380"/>
            <a:ext cx="1977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AI Recommendation Page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5550839" y="3865605"/>
            <a:ext cx="19779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System displays optimal sizing and savings analysis.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3" title="Screenshot 2026-07-11 2341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5994" y="1334976"/>
            <a:ext cx="2430197" cy="234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title="Screenshot 2026-07-11 2342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8291" y="1422564"/>
            <a:ext cx="4983010" cy="1981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/>
          <p:nvPr/>
        </p:nvSpPr>
        <p:spPr>
          <a:xfrm>
            <a:off x="496119" y="397594"/>
            <a:ext cx="756000" cy="144600"/>
          </a:xfrm>
          <a:prstGeom prst="roundRect">
            <a:avLst>
              <a:gd fmla="val 22112" name="adj"/>
            </a:avLst>
          </a:prstGeom>
          <a:solidFill>
            <a:srgbClr val="FCE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/>
          <p:nvPr/>
        </p:nvSpPr>
        <p:spPr>
          <a:xfrm>
            <a:off x="553269" y="426169"/>
            <a:ext cx="1098900" cy="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600"/>
              <a:buFont typeface="Open Sans"/>
              <a:buNone/>
            </a:pPr>
            <a:r>
              <a:rPr b="0" i="0" lang="en-GB" sz="6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DEMONSTRATION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496119" y="567928"/>
            <a:ext cx="8151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1850"/>
              <a:buFont typeface="Bitter Medium"/>
              <a:buNone/>
            </a:pPr>
            <a:r>
              <a:rPr b="0" i="0" lang="en-GB" sz="18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Live Product Output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496119" y="961579"/>
            <a:ext cx="86091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The following screenshots demonstrate the end-to-end customer journey — from initial input through AI analysis to final report delivery and lead capture.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617689" y="3857030"/>
            <a:ext cx="1977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AI Recommendation Page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617689" y="4044255"/>
            <a:ext cx="19779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System displays optimal sizing and savings analysis.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3509323" y="3857030"/>
            <a:ext cx="1977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Generated PDF 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3509323" y="4044255"/>
            <a:ext cx="19779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Professional advisory report ready for download.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6439806" y="3857029"/>
            <a:ext cx="1977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00"/>
              <a:buFont typeface="Bitter Medium"/>
              <a:buNone/>
            </a:pPr>
            <a:r>
              <a:rPr b="0" i="0" lang="en-GB" sz="90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Email with Attachment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6439806" y="4044255"/>
            <a:ext cx="19779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Report delivered directly to the customer's inbox.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700" y="1183075"/>
            <a:ext cx="1935975" cy="2543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3550" y="1185125"/>
            <a:ext cx="2129434" cy="254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2850" y="1201238"/>
            <a:ext cx="1977900" cy="254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/>
          <p:nvPr/>
        </p:nvSpPr>
        <p:spPr>
          <a:xfrm>
            <a:off x="496119" y="1078111"/>
            <a:ext cx="577379" cy="215354"/>
          </a:xfrm>
          <a:prstGeom prst="roundRect">
            <a:avLst>
              <a:gd fmla="val 22119" name="adj"/>
            </a:avLst>
          </a:prstGeom>
          <a:solidFill>
            <a:srgbClr val="FCE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581174" y="1120601"/>
            <a:ext cx="864468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850"/>
              <a:buFont typeface="Open Sans"/>
              <a:buNone/>
            </a:pPr>
            <a:r>
              <a:rPr b="0" i="0" lang="en-GB" sz="8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IMPACT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496119" y="1350169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750"/>
              <a:buFont typeface="Bitter Medium"/>
              <a:buNone/>
            </a:pPr>
            <a:r>
              <a:rPr b="0" i="0" lang="en-GB" sz="27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Value Created for Every Stakeholder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7" name="Google Shape;2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005757"/>
            <a:ext cx="2622724" cy="205955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/>
          <p:nvPr/>
        </p:nvSpPr>
        <p:spPr>
          <a:xfrm>
            <a:off x="642640" y="2152278"/>
            <a:ext cx="232968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350"/>
              <a:buFont typeface="Bitter Medium"/>
              <a:buNone/>
            </a:pPr>
            <a:r>
              <a:rPr b="0" i="0" lang="en-GB" sz="13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For Customers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642640" y="2458789"/>
            <a:ext cx="2329681" cy="1460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00"/>
              <a:buFont typeface="Open Sans"/>
              <a:buChar char="•"/>
            </a:pPr>
            <a:r>
              <a:rPr b="0" i="0" lang="en-GB" sz="1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Instant, personalised recommendations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00"/>
              <a:buFont typeface="Open Sans"/>
              <a:buChar char="•"/>
            </a:pPr>
            <a:r>
              <a:rPr b="0" i="0" lang="en-GB" sz="1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Significantly reduced consultation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00"/>
              <a:buFont typeface="Open Sans"/>
              <a:buChar char="•"/>
            </a:pPr>
            <a:r>
              <a:rPr b="0" i="0" lang="en-GB" sz="1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Better-informed investment decisions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0601" y="2005757"/>
            <a:ext cx="2622724" cy="205955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/>
          <p:nvPr/>
        </p:nvSpPr>
        <p:spPr>
          <a:xfrm>
            <a:off x="3407122" y="2152278"/>
            <a:ext cx="232968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350"/>
              <a:buFont typeface="Bitter Medium"/>
              <a:buNone/>
            </a:pPr>
            <a:r>
              <a:rPr b="0" i="0" lang="en-GB" sz="13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For Solar Installers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3407122" y="2458789"/>
            <a:ext cx="2329681" cy="1460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00"/>
              <a:buFont typeface="Open Sans"/>
              <a:buChar char="•"/>
            </a:pPr>
            <a:r>
              <a:rPr b="0" i="0" lang="en-GB" sz="1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Steady stream of qualified customer leads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00"/>
              <a:buFont typeface="Open Sans"/>
              <a:buChar char="•"/>
            </a:pPr>
            <a:r>
              <a:rPr b="0" i="0" lang="en-GB" sz="1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Reduced customer acquisition costs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00"/>
              <a:buFont typeface="Open Sans"/>
              <a:buChar char="•"/>
            </a:pPr>
            <a:r>
              <a:rPr b="0" i="0" lang="en-GB" sz="1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Improved conversion through informed buyers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5083" y="2005757"/>
            <a:ext cx="2622724" cy="205955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/>
          <p:nvPr/>
        </p:nvSpPr>
        <p:spPr>
          <a:xfrm>
            <a:off x="6171605" y="2152278"/>
            <a:ext cx="232968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350"/>
              <a:buFont typeface="Bitter Medium"/>
              <a:buNone/>
            </a:pPr>
            <a:r>
              <a:rPr b="0" i="0" lang="en-GB" sz="13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For Society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6171605" y="2458789"/>
            <a:ext cx="2329681" cy="1460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00"/>
              <a:buFont typeface="Open Sans"/>
              <a:buChar char="•"/>
            </a:pPr>
            <a:r>
              <a:rPr b="0" i="0" lang="en-GB" sz="1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Increased renewable energy adoption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00"/>
              <a:buFont typeface="Open Sans"/>
              <a:buChar char="•"/>
            </a:pPr>
            <a:r>
              <a:rPr b="0" i="0" lang="en-GB" sz="1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Support for sustainable development goals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100"/>
              <a:buFont typeface="Open Sans"/>
              <a:buChar char="•"/>
            </a:pPr>
            <a:r>
              <a:rPr b="0" i="0" lang="en-GB" sz="11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Accelerated path to a cleaner energy future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/>
          <p:nvPr/>
        </p:nvSpPr>
        <p:spPr>
          <a:xfrm>
            <a:off x="496119" y="445219"/>
            <a:ext cx="692646" cy="151358"/>
          </a:xfrm>
          <a:prstGeom prst="roundRect">
            <a:avLst>
              <a:gd fmla="val 22128" name="adj"/>
            </a:avLst>
          </a:prstGeom>
          <a:solidFill>
            <a:srgbClr val="FCE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6"/>
          <p:cNvSpPr/>
          <p:nvPr/>
        </p:nvSpPr>
        <p:spPr>
          <a:xfrm>
            <a:off x="555873" y="475059"/>
            <a:ext cx="1030337" cy="91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600"/>
              <a:buFont typeface="Open Sans"/>
              <a:buNone/>
            </a:pPr>
            <a:r>
              <a:rPr b="0" i="0" lang="en-GB" sz="60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FUTURE VISION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496119" y="624557"/>
            <a:ext cx="8151763" cy="311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1950"/>
              <a:buFont typeface="Bitter Medium"/>
              <a:buNone/>
            </a:pPr>
            <a:r>
              <a:rPr b="0" i="0" lang="en-GB" sz="195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Accelerating Solar Adoption Through AI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4" name="Google Shape;2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041127"/>
            <a:ext cx="1985367" cy="85286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6"/>
          <p:cNvSpPr/>
          <p:nvPr/>
        </p:nvSpPr>
        <p:spPr>
          <a:xfrm>
            <a:off x="667196" y="1155055"/>
            <a:ext cx="1700361" cy="31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Bitter Medium"/>
              <a:buNone/>
            </a:pPr>
            <a:r>
              <a:rPr b="0" i="0" lang="en-GB" sz="9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Government Subsidy Estimation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667196" y="1508447"/>
            <a:ext cx="1700361" cy="271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Integrate live subsidy schemes to refine net cost projections.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7" name="Google Shape;2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1384" y="1045502"/>
            <a:ext cx="1985441" cy="85286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/>
          <p:nvPr/>
        </p:nvSpPr>
        <p:spPr>
          <a:xfrm>
            <a:off x="3712462" y="1159430"/>
            <a:ext cx="17004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Bitter Medium"/>
              <a:buNone/>
            </a:pPr>
            <a:r>
              <a:rPr b="0" i="0" lang="en-GB" sz="9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Carbon Footprint Analysis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3712462" y="1357148"/>
            <a:ext cx="17004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Quantify environmental impact and CO₂ reduction per installation.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0" name="Google Shape;28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5650" y="1045502"/>
            <a:ext cx="1985441" cy="85286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/>
          <p:nvPr/>
        </p:nvSpPr>
        <p:spPr>
          <a:xfrm>
            <a:off x="6586728" y="1159430"/>
            <a:ext cx="17004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Bitter Medium"/>
              <a:buNone/>
            </a:pPr>
            <a:r>
              <a:rPr b="0" i="0" lang="en-GB" sz="9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Satellite Roof Assessment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6586728" y="1357148"/>
            <a:ext cx="17004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Use satellite imagery for automated roof mapping and shading analysis.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3" name="Google Shape;2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1290" y="2009989"/>
            <a:ext cx="1985441" cy="85286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/>
          <p:nvPr/>
        </p:nvSpPr>
        <p:spPr>
          <a:xfrm>
            <a:off x="4772368" y="2123918"/>
            <a:ext cx="17004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Bitter Medium"/>
              <a:buNone/>
            </a:pPr>
            <a:r>
              <a:rPr b="0" i="0" lang="en-GB" sz="9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Real-time Installer Discovery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4772368" y="2321636"/>
            <a:ext cx="17004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Match customers with available installers based on location and capacity.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6" name="Google Shape;2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7094" y="2007798"/>
            <a:ext cx="1985367" cy="85286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6"/>
          <p:cNvSpPr/>
          <p:nvPr/>
        </p:nvSpPr>
        <p:spPr>
          <a:xfrm>
            <a:off x="1898171" y="2121726"/>
            <a:ext cx="17004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950"/>
              <a:buFont typeface="Bitter Medium"/>
              <a:buNone/>
            </a:pPr>
            <a:r>
              <a:rPr b="0" i="0" lang="en-GB" sz="950" u="none" cap="none" strike="noStrike">
                <a:solidFill>
                  <a:srgbClr val="2B2E3C"/>
                </a:solidFill>
                <a:latin typeface="Bitter Medium"/>
                <a:ea typeface="Bitter Medium"/>
                <a:cs typeface="Bitter Medium"/>
                <a:sym typeface="Bitter Medium"/>
              </a:rPr>
              <a:t>Customer Analytics Dashboard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1898171" y="2475119"/>
            <a:ext cx="17004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Provide installers with insights into lead quality and conversion trends.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496119" y="2895674"/>
            <a:ext cx="14288" cy="293415"/>
          </a:xfrm>
          <a:prstGeom prst="roundRect">
            <a:avLst>
              <a:gd fmla="val 59998" name="adj"/>
            </a:avLst>
          </a:prstGeom>
          <a:solidFill>
            <a:srgbClr val="D260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645616" y="2974479"/>
            <a:ext cx="8459465" cy="135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SolarSense AI transforms a complex and technical process into an intelligent, automated and customer-friendly experience.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496119" y="3292748"/>
            <a:ext cx="8151763" cy="14288"/>
          </a:xfrm>
          <a:prstGeom prst="roundRect">
            <a:avLst>
              <a:gd fmla="val 59998" name="adj"/>
            </a:avLst>
          </a:prstGeom>
          <a:solidFill>
            <a:srgbClr val="2B2E3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496119" y="3436962"/>
            <a:ext cx="8151763" cy="622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3900"/>
              <a:buFont typeface="Bitter Medium"/>
              <a:buNone/>
            </a:pPr>
            <a:r>
              <a:rPr b="0" i="0" lang="en-GB" sz="3900" u="none" cap="none" strike="noStrike">
                <a:solidFill>
                  <a:srgbClr val="2C3F42"/>
                </a:solidFill>
                <a:latin typeface="Bitter Medium"/>
                <a:ea typeface="Bitter Medium"/>
                <a:cs typeface="Bitter Medium"/>
                <a:sym typeface="Bitter Medium"/>
              </a:rPr>
              <a:t>Thank You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267519" y="4165029"/>
            <a:ext cx="8608963" cy="135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750"/>
              <a:buFont typeface="Open Sans"/>
              <a:buNone/>
            </a:pPr>
            <a:r>
              <a:rPr b="0" i="0" lang="en-GB" sz="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Questions?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496119" y="4379640"/>
            <a:ext cx="8151763" cy="318567"/>
          </a:xfrm>
          <a:prstGeom prst="roundRect">
            <a:avLst>
              <a:gd fmla="val 13142" name="adj"/>
            </a:avLst>
          </a:prstGeom>
          <a:solidFill>
            <a:srgbClr val="FCE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5" name="Google Shape;29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759" y="4512171"/>
            <a:ext cx="124569" cy="99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/>
          <p:nvPr/>
        </p:nvSpPr>
        <p:spPr>
          <a:xfrm>
            <a:off x="819969" y="4474518"/>
            <a:ext cx="8185472" cy="135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Open Sans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GitHub Repository:</a:t>
            </a:r>
            <a:r>
              <a:rPr b="0" i="0" lang="en-GB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5"/>
              </a:rPr>
              <a:t>krushnads25/SolarSense-AI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